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Consolas" panose="020B0609020204030204" pitchFamily="49" charset="0"/>
      <p:regular r:id="rId13"/>
      <p:bold r:id="rId14"/>
      <p:italic r:id="rId15"/>
      <p:boldItalic r:id="rId16"/>
    </p:embeddedFont>
    <p:embeddedFont>
      <p:font typeface="Lora" pitchFamily="2" charset="0"/>
      <p:regular r:id="rId17"/>
    </p:embeddedFont>
    <p:embeddedFont>
      <p:font typeface="Source Sans 3"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139"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8621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7.svg"/><Relationship Id="rId11" Type="http://schemas.openxmlformats.org/officeDocument/2006/relationships/image" Target="../media/image3.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svg"/><Relationship Id="rId12"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sv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svg"/><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24124" y="2051328"/>
            <a:ext cx="7468553" cy="1231821"/>
          </a:xfrm>
          <a:prstGeom prst="rect">
            <a:avLst/>
          </a:prstGeom>
          <a:noFill/>
          <a:ln/>
        </p:spPr>
        <p:txBody>
          <a:bodyPr wrap="square" lIns="0" tIns="0" rIns="0" bIns="0" rtlCol="0" anchor="t"/>
          <a:lstStyle/>
          <a:p>
            <a:pPr marL="0" indent="0" algn="l">
              <a:lnSpc>
                <a:spcPts val="4850"/>
              </a:lnSpc>
              <a:buNone/>
            </a:pPr>
            <a:r>
              <a:rPr lang="en-US" sz="3850" dirty="0">
                <a:solidFill>
                  <a:srgbClr val="38512F"/>
                </a:solidFill>
                <a:latin typeface="Lora" pitchFamily="34" charset="0"/>
                <a:ea typeface="Lora" pitchFamily="34" charset="-122"/>
                <a:cs typeface="Lora" pitchFamily="34" charset="-120"/>
              </a:rPr>
              <a:t>Milestone 3: Web App Integration &amp; UI</a:t>
            </a:r>
            <a:endParaRPr lang="en-US" sz="3850" dirty="0"/>
          </a:p>
        </p:txBody>
      </p:sp>
      <p:sp>
        <p:nvSpPr>
          <p:cNvPr id="4" name="Text 1"/>
          <p:cNvSpPr/>
          <p:nvPr/>
        </p:nvSpPr>
        <p:spPr>
          <a:xfrm>
            <a:off x="6324124" y="3597235"/>
            <a:ext cx="7468553" cy="1340168"/>
          </a:xfrm>
          <a:prstGeom prst="rect">
            <a:avLst/>
          </a:prstGeom>
          <a:noFill/>
          <a:ln/>
        </p:spPr>
        <p:txBody>
          <a:bodyPr wrap="square" lIns="0" tIns="0" rIns="0" bIns="0" rtlCol="0" anchor="t"/>
          <a:lstStyle/>
          <a:p>
            <a:pPr marL="0" indent="0" algn="l">
              <a:lnSpc>
                <a:spcPts val="2600"/>
              </a:lnSpc>
              <a:buNone/>
            </a:pPr>
            <a:r>
              <a:rPr lang="en-US" sz="1600" dirty="0">
                <a:solidFill>
                  <a:srgbClr val="3A3630"/>
                </a:solidFill>
                <a:latin typeface="Source Sans 3" pitchFamily="34" charset="0"/>
                <a:ea typeface="Source Sans 3" pitchFamily="34" charset="-122"/>
                <a:cs typeface="Source Sans 3" pitchFamily="34" charset="-120"/>
              </a:rPr>
              <a:t>This presentation details the successful completion of Milestone 3 for the Fake Job Post Detection project. Our primary focus shifted from model development to the practical application of our Natural Language Processing (NLP) solution: developing the trained model into a functional web application with an intuitive user interface.</a:t>
            </a:r>
            <a:endParaRPr lang="en-US" sz="1600" dirty="0"/>
          </a:p>
        </p:txBody>
      </p:sp>
      <p:sp>
        <p:nvSpPr>
          <p:cNvPr id="5" name="Text 2"/>
          <p:cNvSpPr/>
          <p:nvPr/>
        </p:nvSpPr>
        <p:spPr>
          <a:xfrm>
            <a:off x="6324124" y="5173028"/>
            <a:ext cx="7468553" cy="1005126"/>
          </a:xfrm>
          <a:prstGeom prst="rect">
            <a:avLst/>
          </a:prstGeom>
          <a:noFill/>
          <a:ln/>
        </p:spPr>
        <p:txBody>
          <a:bodyPr wrap="square" lIns="0" tIns="0" rIns="0" bIns="0" rtlCol="0" anchor="t"/>
          <a:lstStyle/>
          <a:p>
            <a:pPr marL="0" indent="0" algn="l">
              <a:lnSpc>
                <a:spcPts val="2600"/>
              </a:lnSpc>
              <a:buNone/>
            </a:pPr>
            <a:r>
              <a:rPr lang="en-US" sz="1600" dirty="0">
                <a:solidFill>
                  <a:srgbClr val="3A3630"/>
                </a:solidFill>
                <a:latin typeface="Source Sans 3" pitchFamily="34" charset="0"/>
                <a:ea typeface="Source Sans 3" pitchFamily="34" charset="-122"/>
                <a:cs typeface="Source Sans 3" pitchFamily="34" charset="-120"/>
              </a:rPr>
              <a:t>This milestone is critical as it transforms our theoretical model into a tangible tool that can be used by stakeholders to detect fraudulent job postings, showcasing the real-world impact and usability of our NLP pipeline.</a:t>
            </a:r>
            <a:endParaRPr lang="en-US" sz="1600" dirty="0"/>
          </a:p>
        </p:txBody>
      </p:sp>
      <p:pic>
        <p:nvPicPr>
          <p:cNvPr id="7" name="Picture 6">
            <a:extLst>
              <a:ext uri="{FF2B5EF4-FFF2-40B4-BE49-F238E27FC236}">
                <a16:creationId xmlns:a16="http://schemas.microsoft.com/office/drawing/2014/main" id="{E1BF324D-696D-E290-1141-479DB4CBEB30}"/>
              </a:ext>
            </a:extLst>
          </p:cNvPr>
          <p:cNvPicPr>
            <a:picLocks noChangeAspect="1"/>
          </p:cNvPicPr>
          <p:nvPr/>
        </p:nvPicPr>
        <p:blipFill>
          <a:blip r:embed="rId4"/>
          <a:stretch>
            <a:fillRect/>
          </a:stretch>
        </p:blipFill>
        <p:spPr>
          <a:xfrm>
            <a:off x="11720316" y="7662828"/>
            <a:ext cx="2810267" cy="48584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37724" y="866061"/>
            <a:ext cx="11907679" cy="615910"/>
          </a:xfrm>
          <a:prstGeom prst="rect">
            <a:avLst/>
          </a:prstGeom>
          <a:noFill/>
          <a:ln/>
        </p:spPr>
        <p:txBody>
          <a:bodyPr wrap="none" lIns="0" tIns="0" rIns="0" bIns="0" rtlCol="0" anchor="t"/>
          <a:lstStyle/>
          <a:p>
            <a:pPr marL="0" indent="0" algn="l">
              <a:lnSpc>
                <a:spcPts val="4850"/>
              </a:lnSpc>
              <a:buNone/>
            </a:pPr>
            <a:r>
              <a:rPr lang="en-US" sz="3850" dirty="0">
                <a:solidFill>
                  <a:srgbClr val="38512F"/>
                </a:solidFill>
                <a:latin typeface="Lora" pitchFamily="34" charset="0"/>
                <a:ea typeface="Lora" pitchFamily="34" charset="-122"/>
                <a:cs typeface="Lora" pitchFamily="34" charset="-120"/>
              </a:rPr>
              <a:t>Objective of Milestone 3: From Model to Application</a:t>
            </a:r>
            <a:endParaRPr lang="en-US" sz="3850" dirty="0"/>
          </a:p>
        </p:txBody>
      </p:sp>
      <p:sp>
        <p:nvSpPr>
          <p:cNvPr id="3" name="Shape 1"/>
          <p:cNvSpPr/>
          <p:nvPr/>
        </p:nvSpPr>
        <p:spPr>
          <a:xfrm>
            <a:off x="837724" y="2214920"/>
            <a:ext cx="4178618" cy="2194679"/>
          </a:xfrm>
          <a:prstGeom prst="roundRect">
            <a:avLst>
              <a:gd name="adj" fmla="val 5000"/>
            </a:avLst>
          </a:prstGeom>
          <a:solidFill>
            <a:srgbClr val="FEF5E7"/>
          </a:solidFill>
          <a:ln/>
        </p:spPr>
      </p:sp>
      <p:sp>
        <p:nvSpPr>
          <p:cNvPr id="4" name="Shape 2"/>
          <p:cNvSpPr/>
          <p:nvPr/>
        </p:nvSpPr>
        <p:spPr>
          <a:xfrm>
            <a:off x="837724" y="2192060"/>
            <a:ext cx="4178618" cy="91440"/>
          </a:xfrm>
          <a:prstGeom prst="roundRect">
            <a:avLst>
              <a:gd name="adj" fmla="val 34360"/>
            </a:avLst>
          </a:prstGeom>
          <a:solidFill>
            <a:srgbClr val="38512F"/>
          </a:solidFill>
          <a:ln/>
        </p:spPr>
      </p:sp>
      <p:sp>
        <p:nvSpPr>
          <p:cNvPr id="5" name="Shape 3"/>
          <p:cNvSpPr/>
          <p:nvPr/>
        </p:nvSpPr>
        <p:spPr>
          <a:xfrm>
            <a:off x="2612886" y="1900833"/>
            <a:ext cx="628293" cy="628293"/>
          </a:xfrm>
          <a:prstGeom prst="roundRect">
            <a:avLst>
              <a:gd name="adj" fmla="val 145537"/>
            </a:avLst>
          </a:prstGeom>
          <a:solidFill>
            <a:srgbClr val="38512F"/>
          </a:solidFill>
          <a:ln/>
        </p:spPr>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01362" y="2089190"/>
            <a:ext cx="251341" cy="251341"/>
          </a:xfrm>
          <a:prstGeom prst="rect">
            <a:avLst/>
          </a:prstGeom>
        </p:spPr>
      </p:pic>
      <p:sp>
        <p:nvSpPr>
          <p:cNvPr id="7" name="Text 4"/>
          <p:cNvSpPr/>
          <p:nvPr/>
        </p:nvSpPr>
        <p:spPr>
          <a:xfrm>
            <a:off x="1070015" y="2738557"/>
            <a:ext cx="2930485" cy="308015"/>
          </a:xfrm>
          <a:prstGeom prst="rect">
            <a:avLst/>
          </a:prstGeom>
          <a:noFill/>
          <a:ln/>
        </p:spPr>
        <p:txBody>
          <a:bodyPr wrap="none" lIns="0" tIns="0" rIns="0" bIns="0" rtlCol="0" anchor="t"/>
          <a:lstStyle/>
          <a:p>
            <a:pPr marL="0" indent="0" algn="l">
              <a:lnSpc>
                <a:spcPts val="2400"/>
              </a:lnSpc>
              <a:buNone/>
            </a:pPr>
            <a:r>
              <a:rPr lang="en-US" sz="1900" dirty="0">
                <a:solidFill>
                  <a:srgbClr val="3A3630"/>
                </a:solidFill>
                <a:latin typeface="Lora" pitchFamily="34" charset="0"/>
                <a:ea typeface="Lora" pitchFamily="34" charset="-122"/>
                <a:cs typeface="Lora" pitchFamily="34" charset="-120"/>
              </a:rPr>
              <a:t>Build Robust Backend API</a:t>
            </a:r>
            <a:endParaRPr lang="en-US" sz="1900" dirty="0"/>
          </a:p>
        </p:txBody>
      </p:sp>
      <p:sp>
        <p:nvSpPr>
          <p:cNvPr id="8" name="Text 5"/>
          <p:cNvSpPr/>
          <p:nvPr/>
        </p:nvSpPr>
        <p:spPr>
          <a:xfrm>
            <a:off x="1070015" y="3172182"/>
            <a:ext cx="3714036" cy="670084"/>
          </a:xfrm>
          <a:prstGeom prst="rect">
            <a:avLst/>
          </a:prstGeom>
          <a:noFill/>
          <a:ln/>
        </p:spPr>
        <p:txBody>
          <a:bodyPr wrap="square" lIns="0" tIns="0" rIns="0" bIns="0" rtlCol="0" anchor="t"/>
          <a:lstStyle/>
          <a:p>
            <a:pPr marL="0" indent="0" algn="l">
              <a:lnSpc>
                <a:spcPts val="2600"/>
              </a:lnSpc>
              <a:buNone/>
            </a:pPr>
            <a:r>
              <a:rPr lang="en-US" sz="1600" dirty="0">
                <a:solidFill>
                  <a:srgbClr val="3A3630"/>
                </a:solidFill>
                <a:latin typeface="Source Sans 3" pitchFamily="34" charset="0"/>
                <a:ea typeface="Source Sans 3" pitchFamily="34" charset="-122"/>
                <a:cs typeface="Source Sans 3" pitchFamily="34" charset="-120"/>
              </a:rPr>
              <a:t>Developing a reliable API to serve model predictions efficiently.</a:t>
            </a:r>
            <a:endParaRPr lang="en-US" sz="1600" dirty="0"/>
          </a:p>
        </p:txBody>
      </p:sp>
      <p:sp>
        <p:nvSpPr>
          <p:cNvPr id="9" name="Shape 6"/>
          <p:cNvSpPr/>
          <p:nvPr/>
        </p:nvSpPr>
        <p:spPr>
          <a:xfrm>
            <a:off x="5225772" y="2214920"/>
            <a:ext cx="4178737" cy="2194679"/>
          </a:xfrm>
          <a:prstGeom prst="roundRect">
            <a:avLst>
              <a:gd name="adj" fmla="val 5000"/>
            </a:avLst>
          </a:prstGeom>
          <a:solidFill>
            <a:srgbClr val="FEF5E7"/>
          </a:solidFill>
          <a:ln/>
        </p:spPr>
      </p:sp>
      <p:sp>
        <p:nvSpPr>
          <p:cNvPr id="10" name="Shape 7"/>
          <p:cNvSpPr/>
          <p:nvPr/>
        </p:nvSpPr>
        <p:spPr>
          <a:xfrm>
            <a:off x="5225772" y="2192060"/>
            <a:ext cx="4178737" cy="91440"/>
          </a:xfrm>
          <a:prstGeom prst="roundRect">
            <a:avLst>
              <a:gd name="adj" fmla="val 34360"/>
            </a:avLst>
          </a:prstGeom>
          <a:solidFill>
            <a:srgbClr val="38512F"/>
          </a:solidFill>
          <a:ln/>
        </p:spPr>
      </p:sp>
      <p:sp>
        <p:nvSpPr>
          <p:cNvPr id="11" name="Shape 8"/>
          <p:cNvSpPr/>
          <p:nvPr/>
        </p:nvSpPr>
        <p:spPr>
          <a:xfrm>
            <a:off x="7000935" y="1900833"/>
            <a:ext cx="628293" cy="628293"/>
          </a:xfrm>
          <a:prstGeom prst="roundRect">
            <a:avLst>
              <a:gd name="adj" fmla="val 145537"/>
            </a:avLst>
          </a:prstGeom>
          <a:solidFill>
            <a:srgbClr val="38512F"/>
          </a:solidFill>
          <a:ln/>
        </p:spPr>
      </p:sp>
      <p:pic>
        <p:nvPicPr>
          <p:cNvPr id="12"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89410" y="2089190"/>
            <a:ext cx="251341" cy="251341"/>
          </a:xfrm>
          <a:prstGeom prst="rect">
            <a:avLst/>
          </a:prstGeom>
        </p:spPr>
      </p:pic>
      <p:sp>
        <p:nvSpPr>
          <p:cNvPr id="13" name="Text 9"/>
          <p:cNvSpPr/>
          <p:nvPr/>
        </p:nvSpPr>
        <p:spPr>
          <a:xfrm>
            <a:off x="5458063" y="2738557"/>
            <a:ext cx="3533537" cy="308015"/>
          </a:xfrm>
          <a:prstGeom prst="rect">
            <a:avLst/>
          </a:prstGeom>
          <a:noFill/>
          <a:ln/>
        </p:spPr>
        <p:txBody>
          <a:bodyPr wrap="none" lIns="0" tIns="0" rIns="0" bIns="0" rtlCol="0" anchor="t"/>
          <a:lstStyle/>
          <a:p>
            <a:pPr marL="0" indent="0" algn="l">
              <a:lnSpc>
                <a:spcPts val="2400"/>
              </a:lnSpc>
              <a:buNone/>
            </a:pPr>
            <a:r>
              <a:rPr lang="en-US" sz="1900" dirty="0">
                <a:solidFill>
                  <a:srgbClr val="3A3630"/>
                </a:solidFill>
                <a:latin typeface="Lora" pitchFamily="34" charset="0"/>
                <a:ea typeface="Lora" pitchFamily="34" charset="-122"/>
                <a:cs typeface="Lora" pitchFamily="34" charset="-120"/>
              </a:rPr>
              <a:t>Integrate Intuitive Frontend UI</a:t>
            </a:r>
            <a:endParaRPr lang="en-US" sz="1900" dirty="0"/>
          </a:p>
        </p:txBody>
      </p:sp>
      <p:sp>
        <p:nvSpPr>
          <p:cNvPr id="14" name="Text 10"/>
          <p:cNvSpPr/>
          <p:nvPr/>
        </p:nvSpPr>
        <p:spPr>
          <a:xfrm>
            <a:off x="5458063" y="3172182"/>
            <a:ext cx="3714155" cy="1005126"/>
          </a:xfrm>
          <a:prstGeom prst="rect">
            <a:avLst/>
          </a:prstGeom>
          <a:noFill/>
          <a:ln/>
        </p:spPr>
        <p:txBody>
          <a:bodyPr wrap="square" lIns="0" tIns="0" rIns="0" bIns="0" rtlCol="0" anchor="t"/>
          <a:lstStyle/>
          <a:p>
            <a:pPr marL="0" indent="0" algn="l">
              <a:lnSpc>
                <a:spcPts val="2600"/>
              </a:lnSpc>
              <a:buNone/>
            </a:pPr>
            <a:r>
              <a:rPr lang="en-US" sz="1600" dirty="0">
                <a:solidFill>
                  <a:srgbClr val="3A3630"/>
                </a:solidFill>
                <a:latin typeface="Source Sans 3" pitchFamily="34" charset="0"/>
                <a:ea typeface="Source Sans 3" pitchFamily="34" charset="-122"/>
                <a:cs typeface="Source Sans 3" pitchFamily="34" charset="-120"/>
              </a:rPr>
              <a:t>Creating a user-friendly interface for seamless interaction with the prediction system.</a:t>
            </a:r>
            <a:endParaRPr lang="en-US" sz="1600" dirty="0"/>
          </a:p>
        </p:txBody>
      </p:sp>
      <p:sp>
        <p:nvSpPr>
          <p:cNvPr id="15" name="Shape 11"/>
          <p:cNvSpPr/>
          <p:nvPr/>
        </p:nvSpPr>
        <p:spPr>
          <a:xfrm>
            <a:off x="9613940" y="2214920"/>
            <a:ext cx="4178737" cy="2194679"/>
          </a:xfrm>
          <a:prstGeom prst="roundRect">
            <a:avLst>
              <a:gd name="adj" fmla="val 5000"/>
            </a:avLst>
          </a:prstGeom>
          <a:solidFill>
            <a:srgbClr val="FEF5E7"/>
          </a:solidFill>
          <a:ln/>
        </p:spPr>
      </p:sp>
      <p:sp>
        <p:nvSpPr>
          <p:cNvPr id="16" name="Shape 12"/>
          <p:cNvSpPr/>
          <p:nvPr/>
        </p:nvSpPr>
        <p:spPr>
          <a:xfrm>
            <a:off x="9613940" y="2192060"/>
            <a:ext cx="4178737" cy="91440"/>
          </a:xfrm>
          <a:prstGeom prst="roundRect">
            <a:avLst>
              <a:gd name="adj" fmla="val 34360"/>
            </a:avLst>
          </a:prstGeom>
          <a:solidFill>
            <a:srgbClr val="38512F"/>
          </a:solidFill>
          <a:ln/>
        </p:spPr>
      </p:sp>
      <p:sp>
        <p:nvSpPr>
          <p:cNvPr id="17" name="Shape 13"/>
          <p:cNvSpPr/>
          <p:nvPr/>
        </p:nvSpPr>
        <p:spPr>
          <a:xfrm>
            <a:off x="11389102" y="1900833"/>
            <a:ext cx="628293" cy="628293"/>
          </a:xfrm>
          <a:prstGeom prst="roundRect">
            <a:avLst>
              <a:gd name="adj" fmla="val 145537"/>
            </a:avLst>
          </a:prstGeom>
          <a:solidFill>
            <a:srgbClr val="38512F"/>
          </a:solidFill>
          <a:ln/>
        </p:spPr>
      </p:sp>
      <p:pic>
        <p:nvPicPr>
          <p:cNvPr id="18"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577578" y="2089190"/>
            <a:ext cx="251341" cy="251341"/>
          </a:xfrm>
          <a:prstGeom prst="rect">
            <a:avLst/>
          </a:prstGeom>
        </p:spPr>
      </p:pic>
      <p:sp>
        <p:nvSpPr>
          <p:cNvPr id="19" name="Text 14"/>
          <p:cNvSpPr/>
          <p:nvPr/>
        </p:nvSpPr>
        <p:spPr>
          <a:xfrm>
            <a:off x="9846231" y="2738557"/>
            <a:ext cx="3213378" cy="308015"/>
          </a:xfrm>
          <a:prstGeom prst="rect">
            <a:avLst/>
          </a:prstGeom>
          <a:noFill/>
          <a:ln/>
        </p:spPr>
        <p:txBody>
          <a:bodyPr wrap="none" lIns="0" tIns="0" rIns="0" bIns="0" rtlCol="0" anchor="t"/>
          <a:lstStyle/>
          <a:p>
            <a:pPr marL="0" indent="0" algn="l">
              <a:lnSpc>
                <a:spcPts val="2400"/>
              </a:lnSpc>
              <a:buNone/>
            </a:pPr>
            <a:r>
              <a:rPr lang="en-US" sz="1900" dirty="0">
                <a:solidFill>
                  <a:srgbClr val="3A3630"/>
                </a:solidFill>
                <a:latin typeface="Lora" pitchFamily="34" charset="0"/>
                <a:ea typeface="Lora" pitchFamily="34" charset="-122"/>
                <a:cs typeface="Lora" pitchFamily="34" charset="-120"/>
              </a:rPr>
              <a:t>Enable Real-time Prediction</a:t>
            </a:r>
            <a:endParaRPr lang="en-US" sz="1900" dirty="0"/>
          </a:p>
        </p:txBody>
      </p:sp>
      <p:sp>
        <p:nvSpPr>
          <p:cNvPr id="20" name="Text 15"/>
          <p:cNvSpPr/>
          <p:nvPr/>
        </p:nvSpPr>
        <p:spPr>
          <a:xfrm>
            <a:off x="9846231" y="3172182"/>
            <a:ext cx="3714155" cy="670084"/>
          </a:xfrm>
          <a:prstGeom prst="rect">
            <a:avLst/>
          </a:prstGeom>
          <a:noFill/>
          <a:ln/>
        </p:spPr>
        <p:txBody>
          <a:bodyPr wrap="square" lIns="0" tIns="0" rIns="0" bIns="0" rtlCol="0" anchor="t"/>
          <a:lstStyle/>
          <a:p>
            <a:pPr marL="0" indent="0" algn="l">
              <a:lnSpc>
                <a:spcPts val="2600"/>
              </a:lnSpc>
              <a:buNone/>
            </a:pPr>
            <a:r>
              <a:rPr lang="en-US" sz="1600" dirty="0">
                <a:solidFill>
                  <a:srgbClr val="3A3630"/>
                </a:solidFill>
                <a:latin typeface="Source Sans 3" pitchFamily="34" charset="0"/>
                <a:ea typeface="Source Sans 3" pitchFamily="34" charset="-122"/>
                <a:cs typeface="Source Sans 3" pitchFamily="34" charset="-120"/>
              </a:rPr>
              <a:t>Ensuring immediate feedback for job post classifications.</a:t>
            </a:r>
            <a:endParaRPr lang="en-US" sz="1600" dirty="0"/>
          </a:p>
        </p:txBody>
      </p:sp>
      <p:sp>
        <p:nvSpPr>
          <p:cNvPr id="21" name="Shape 16"/>
          <p:cNvSpPr/>
          <p:nvPr/>
        </p:nvSpPr>
        <p:spPr>
          <a:xfrm>
            <a:off x="837724" y="4933117"/>
            <a:ext cx="12954952" cy="1524595"/>
          </a:xfrm>
          <a:prstGeom prst="roundRect">
            <a:avLst>
              <a:gd name="adj" fmla="val 7197"/>
            </a:avLst>
          </a:prstGeom>
          <a:solidFill>
            <a:srgbClr val="FEF5E7"/>
          </a:solidFill>
          <a:ln/>
        </p:spPr>
      </p:sp>
      <p:sp>
        <p:nvSpPr>
          <p:cNvPr id="22" name="Shape 17"/>
          <p:cNvSpPr/>
          <p:nvPr/>
        </p:nvSpPr>
        <p:spPr>
          <a:xfrm>
            <a:off x="837724" y="4910257"/>
            <a:ext cx="12954952" cy="91440"/>
          </a:xfrm>
          <a:prstGeom prst="roundRect">
            <a:avLst>
              <a:gd name="adj" fmla="val 34360"/>
            </a:avLst>
          </a:prstGeom>
          <a:solidFill>
            <a:srgbClr val="38512F"/>
          </a:solidFill>
          <a:ln/>
        </p:spPr>
      </p:sp>
      <p:sp>
        <p:nvSpPr>
          <p:cNvPr id="23" name="Shape 18"/>
          <p:cNvSpPr/>
          <p:nvPr/>
        </p:nvSpPr>
        <p:spPr>
          <a:xfrm>
            <a:off x="7001054" y="4619030"/>
            <a:ext cx="628293" cy="628293"/>
          </a:xfrm>
          <a:prstGeom prst="roundRect">
            <a:avLst>
              <a:gd name="adj" fmla="val 145537"/>
            </a:avLst>
          </a:prstGeom>
          <a:solidFill>
            <a:srgbClr val="38512F"/>
          </a:solidFill>
          <a:ln/>
        </p:spPr>
      </p:sp>
      <p:pic>
        <p:nvPicPr>
          <p:cNvPr id="24"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189530" y="4807387"/>
            <a:ext cx="251341" cy="251341"/>
          </a:xfrm>
          <a:prstGeom prst="rect">
            <a:avLst/>
          </a:prstGeom>
        </p:spPr>
      </p:pic>
      <p:sp>
        <p:nvSpPr>
          <p:cNvPr id="25" name="Text 19"/>
          <p:cNvSpPr/>
          <p:nvPr/>
        </p:nvSpPr>
        <p:spPr>
          <a:xfrm>
            <a:off x="1070015" y="5456753"/>
            <a:ext cx="3429833" cy="308015"/>
          </a:xfrm>
          <a:prstGeom prst="rect">
            <a:avLst/>
          </a:prstGeom>
          <a:noFill/>
          <a:ln/>
        </p:spPr>
        <p:txBody>
          <a:bodyPr wrap="none" lIns="0" tIns="0" rIns="0" bIns="0" rtlCol="0" anchor="t"/>
          <a:lstStyle/>
          <a:p>
            <a:pPr marL="0" indent="0" algn="l">
              <a:lnSpc>
                <a:spcPts val="2400"/>
              </a:lnSpc>
              <a:buNone/>
            </a:pPr>
            <a:r>
              <a:rPr lang="en-US" sz="1900" dirty="0">
                <a:solidFill>
                  <a:srgbClr val="3A3630"/>
                </a:solidFill>
                <a:latin typeface="Lora" pitchFamily="34" charset="0"/>
                <a:ea typeface="Lora" pitchFamily="34" charset="-122"/>
                <a:cs typeface="Lora" pitchFamily="34" charset="-120"/>
              </a:rPr>
              <a:t>Ensure End-to-End Workflow</a:t>
            </a:r>
            <a:endParaRPr lang="en-US" sz="1900" dirty="0"/>
          </a:p>
        </p:txBody>
      </p:sp>
      <p:sp>
        <p:nvSpPr>
          <p:cNvPr id="26" name="Text 20"/>
          <p:cNvSpPr/>
          <p:nvPr/>
        </p:nvSpPr>
        <p:spPr>
          <a:xfrm>
            <a:off x="1070015" y="5890379"/>
            <a:ext cx="12490371" cy="335042"/>
          </a:xfrm>
          <a:prstGeom prst="rect">
            <a:avLst/>
          </a:prstGeom>
          <a:noFill/>
          <a:ln/>
        </p:spPr>
        <p:txBody>
          <a:bodyPr wrap="none" lIns="0" tIns="0" rIns="0" bIns="0" rtlCol="0" anchor="t"/>
          <a:lstStyle/>
          <a:p>
            <a:pPr marL="0" indent="0" algn="l">
              <a:lnSpc>
                <a:spcPts val="2600"/>
              </a:lnSpc>
              <a:buNone/>
            </a:pPr>
            <a:r>
              <a:rPr lang="en-US" sz="1600" dirty="0">
                <a:solidFill>
                  <a:srgbClr val="3A3630"/>
                </a:solidFill>
                <a:latin typeface="Source Sans 3" pitchFamily="34" charset="0"/>
                <a:ea typeface="Source Sans 3" pitchFamily="34" charset="-122"/>
                <a:cs typeface="Source Sans 3" pitchFamily="34" charset="-120"/>
              </a:rPr>
              <a:t>Validating the complete data flow from input to prediction output.</a:t>
            </a:r>
            <a:endParaRPr lang="en-US" sz="1600" dirty="0"/>
          </a:p>
        </p:txBody>
      </p:sp>
      <p:sp>
        <p:nvSpPr>
          <p:cNvPr id="27" name="Text 21"/>
          <p:cNvSpPr/>
          <p:nvPr/>
        </p:nvSpPr>
        <p:spPr>
          <a:xfrm>
            <a:off x="837724" y="6693337"/>
            <a:ext cx="12954952" cy="670084"/>
          </a:xfrm>
          <a:prstGeom prst="rect">
            <a:avLst/>
          </a:prstGeom>
          <a:noFill/>
          <a:ln/>
        </p:spPr>
        <p:txBody>
          <a:bodyPr wrap="square" lIns="0" tIns="0" rIns="0" bIns="0" rtlCol="0" anchor="t"/>
          <a:lstStyle/>
          <a:p>
            <a:pPr marL="0" indent="0" algn="l">
              <a:lnSpc>
                <a:spcPts val="2600"/>
              </a:lnSpc>
              <a:buNone/>
            </a:pPr>
            <a:r>
              <a:rPr lang="en-US" sz="1600" dirty="0">
                <a:solidFill>
                  <a:srgbClr val="3A3630"/>
                </a:solidFill>
                <a:latin typeface="Source Sans 3" pitchFamily="34" charset="0"/>
                <a:ea typeface="Source Sans 3" pitchFamily="34" charset="-122"/>
                <a:cs typeface="Source Sans 3" pitchFamily="34" charset="-120"/>
              </a:rPr>
              <a:t>Each objective is a critical step towards delivering a fully functional and valuable application, ensuring that our fake job post detection system is not only accurate but also practical and accessible.</a:t>
            </a:r>
            <a:endParaRPr lang="en-US" sz="1600" dirty="0"/>
          </a:p>
        </p:txBody>
      </p:sp>
      <p:pic>
        <p:nvPicPr>
          <p:cNvPr id="29" name="Picture 28">
            <a:extLst>
              <a:ext uri="{FF2B5EF4-FFF2-40B4-BE49-F238E27FC236}">
                <a16:creationId xmlns:a16="http://schemas.microsoft.com/office/drawing/2014/main" id="{6D061A0A-2C80-4D61-B0CA-0962F8E61FB5}"/>
              </a:ext>
            </a:extLst>
          </p:cNvPr>
          <p:cNvPicPr>
            <a:picLocks noChangeAspect="1"/>
          </p:cNvPicPr>
          <p:nvPr/>
        </p:nvPicPr>
        <p:blipFill>
          <a:blip r:embed="rId11"/>
          <a:stretch>
            <a:fillRect/>
          </a:stretch>
        </p:blipFill>
        <p:spPr>
          <a:xfrm>
            <a:off x="11820133" y="7628454"/>
            <a:ext cx="2810267" cy="48584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462213"/>
          </a:xfrm>
          <a:prstGeom prst="rect">
            <a:avLst/>
          </a:prstGeom>
        </p:spPr>
      </p:pic>
      <p:sp>
        <p:nvSpPr>
          <p:cNvPr id="3" name="Text 0"/>
          <p:cNvSpPr/>
          <p:nvPr/>
        </p:nvSpPr>
        <p:spPr>
          <a:xfrm>
            <a:off x="829270" y="3032403"/>
            <a:ext cx="8846225" cy="579358"/>
          </a:xfrm>
          <a:prstGeom prst="rect">
            <a:avLst/>
          </a:prstGeom>
          <a:noFill/>
          <a:ln/>
        </p:spPr>
        <p:txBody>
          <a:bodyPr wrap="none" lIns="0" tIns="0" rIns="0" bIns="0" rtlCol="0" anchor="t"/>
          <a:lstStyle/>
          <a:p>
            <a:pPr marL="0" indent="0" algn="l">
              <a:lnSpc>
                <a:spcPts val="4550"/>
              </a:lnSpc>
              <a:buNone/>
            </a:pPr>
            <a:r>
              <a:rPr lang="en-US" sz="3600" dirty="0">
                <a:solidFill>
                  <a:srgbClr val="38512F"/>
                </a:solidFill>
                <a:latin typeface="Lora" pitchFamily="34" charset="0"/>
                <a:ea typeface="Lora" pitchFamily="34" charset="-122"/>
                <a:cs typeface="Lora" pitchFamily="34" charset="-120"/>
              </a:rPr>
              <a:t>System Architecture: A Unified Approach</a:t>
            </a:r>
            <a:endParaRPr lang="en-US" sz="3600" dirty="0"/>
          </a:p>
        </p:txBody>
      </p:sp>
      <p:sp>
        <p:nvSpPr>
          <p:cNvPr id="4" name="Text 1"/>
          <p:cNvSpPr/>
          <p:nvPr/>
        </p:nvSpPr>
        <p:spPr>
          <a:xfrm>
            <a:off x="829270" y="4084320"/>
            <a:ext cx="6245662" cy="945118"/>
          </a:xfrm>
          <a:prstGeom prst="rect">
            <a:avLst/>
          </a:prstGeom>
          <a:noFill/>
          <a:ln/>
        </p:spPr>
        <p:txBody>
          <a:bodyPr wrap="square" lIns="0" tIns="0" rIns="0" bIns="0" rtlCol="0" anchor="t"/>
          <a:lstStyle/>
          <a:p>
            <a:pPr marL="342900" indent="-342900" algn="l">
              <a:lnSpc>
                <a:spcPts val="2450"/>
              </a:lnSpc>
              <a:buSzPct val="100000"/>
              <a:buChar char="•"/>
            </a:pPr>
            <a:r>
              <a:rPr lang="en-US" sz="1550" b="1" dirty="0">
                <a:solidFill>
                  <a:srgbClr val="3A3630"/>
                </a:solidFill>
                <a:latin typeface="Source Sans 3" pitchFamily="34" charset="0"/>
                <a:ea typeface="Source Sans 3" pitchFamily="34" charset="-122"/>
                <a:cs typeface="Source Sans 3" pitchFamily="34" charset="-120"/>
              </a:rPr>
              <a:t>Frontend: Streamlit</a:t>
            </a:r>
            <a:r>
              <a:rPr lang="en-US" sz="1550" dirty="0">
                <a:solidFill>
                  <a:srgbClr val="3A3630"/>
                </a:solidFill>
                <a:latin typeface="Source Sans 3" pitchFamily="34" charset="0"/>
                <a:ea typeface="Source Sans 3" pitchFamily="34" charset="-122"/>
                <a:cs typeface="Source Sans 3" pitchFamily="34" charset="-120"/>
              </a:rPr>
              <a:t>Selected for its rapid development capabilities and ease of creating interactive web applications with Python.</a:t>
            </a:r>
            <a:endParaRPr lang="en-US" sz="1550" dirty="0"/>
          </a:p>
        </p:txBody>
      </p:sp>
      <p:sp>
        <p:nvSpPr>
          <p:cNvPr id="5" name="Text 2"/>
          <p:cNvSpPr/>
          <p:nvPr/>
        </p:nvSpPr>
        <p:spPr>
          <a:xfrm>
            <a:off x="829270" y="5098375"/>
            <a:ext cx="6245662" cy="945118"/>
          </a:xfrm>
          <a:prstGeom prst="rect">
            <a:avLst/>
          </a:prstGeom>
          <a:noFill/>
          <a:ln/>
        </p:spPr>
        <p:txBody>
          <a:bodyPr wrap="square" lIns="0" tIns="0" rIns="0" bIns="0" rtlCol="0" anchor="t"/>
          <a:lstStyle/>
          <a:p>
            <a:pPr marL="342900" indent="-342900" algn="l">
              <a:lnSpc>
                <a:spcPts val="2450"/>
              </a:lnSpc>
              <a:buSzPct val="100000"/>
              <a:buChar char="•"/>
            </a:pPr>
            <a:r>
              <a:rPr lang="en-US" sz="1550" b="1" dirty="0">
                <a:solidFill>
                  <a:srgbClr val="3A3630"/>
                </a:solidFill>
                <a:latin typeface="Source Sans 3" pitchFamily="34" charset="0"/>
                <a:ea typeface="Source Sans 3" pitchFamily="34" charset="-122"/>
                <a:cs typeface="Source Sans 3" pitchFamily="34" charset="-120"/>
              </a:rPr>
              <a:t>Backend: FastAPI</a:t>
            </a:r>
            <a:r>
              <a:rPr lang="en-US" sz="1550" dirty="0">
                <a:solidFill>
                  <a:srgbClr val="3A3630"/>
                </a:solidFill>
                <a:latin typeface="Source Sans 3" pitchFamily="34" charset="0"/>
                <a:ea typeface="Source Sans 3" pitchFamily="34" charset="-122"/>
                <a:cs typeface="Source Sans 3" pitchFamily="34" charset="-120"/>
              </a:rPr>
              <a:t>Chosen for its high performance, robust API development features, and automatic data validation.</a:t>
            </a:r>
            <a:endParaRPr lang="en-US" sz="1550" dirty="0"/>
          </a:p>
        </p:txBody>
      </p:sp>
      <p:sp>
        <p:nvSpPr>
          <p:cNvPr id="6" name="Text 3"/>
          <p:cNvSpPr/>
          <p:nvPr/>
        </p:nvSpPr>
        <p:spPr>
          <a:xfrm>
            <a:off x="829270" y="6112431"/>
            <a:ext cx="6245662" cy="630079"/>
          </a:xfrm>
          <a:prstGeom prst="rect">
            <a:avLst/>
          </a:prstGeom>
          <a:noFill/>
          <a:ln/>
        </p:spPr>
        <p:txBody>
          <a:bodyPr wrap="square" lIns="0" tIns="0" rIns="0" bIns="0" rtlCol="0" anchor="t"/>
          <a:lstStyle/>
          <a:p>
            <a:pPr marL="342900" indent="-342900" algn="l">
              <a:lnSpc>
                <a:spcPts val="2450"/>
              </a:lnSpc>
              <a:buSzPct val="100000"/>
              <a:buChar char="•"/>
            </a:pPr>
            <a:r>
              <a:rPr lang="en-US" sz="1550" b="1" dirty="0">
                <a:solidFill>
                  <a:srgbClr val="3A3630"/>
                </a:solidFill>
                <a:latin typeface="Source Sans 3" pitchFamily="34" charset="0"/>
                <a:ea typeface="Source Sans 3" pitchFamily="34" charset="-122"/>
                <a:cs typeface="Source Sans 3" pitchFamily="34" charset="-120"/>
              </a:rPr>
              <a:t>Model: Logistic Regression Pipeline</a:t>
            </a:r>
            <a:r>
              <a:rPr lang="en-US" sz="1550" dirty="0">
                <a:solidFill>
                  <a:srgbClr val="3A3630"/>
                </a:solidFill>
                <a:latin typeface="Source Sans 3" pitchFamily="34" charset="0"/>
                <a:ea typeface="Source Sans 3" pitchFamily="34" charset="-122"/>
                <a:cs typeface="Source Sans 3" pitchFamily="34" charset="-120"/>
              </a:rPr>
              <a:t>Our proven NLP model, now containerized and ready for inference.</a:t>
            </a:r>
            <a:endParaRPr lang="en-US" sz="1550" dirty="0"/>
          </a:p>
        </p:txBody>
      </p:sp>
      <p:sp>
        <p:nvSpPr>
          <p:cNvPr id="7" name="Text 4"/>
          <p:cNvSpPr/>
          <p:nvPr/>
        </p:nvSpPr>
        <p:spPr>
          <a:xfrm>
            <a:off x="7563088" y="4084320"/>
            <a:ext cx="6245662" cy="945118"/>
          </a:xfrm>
          <a:prstGeom prst="rect">
            <a:avLst/>
          </a:prstGeom>
          <a:noFill/>
          <a:ln/>
        </p:spPr>
        <p:txBody>
          <a:bodyPr wrap="square" lIns="0" tIns="0" rIns="0" bIns="0" rtlCol="0" anchor="t"/>
          <a:lstStyle/>
          <a:p>
            <a:pPr marL="342900" indent="-342900" algn="l">
              <a:lnSpc>
                <a:spcPts val="2450"/>
              </a:lnSpc>
              <a:buSzPct val="100000"/>
              <a:buChar char="•"/>
            </a:pPr>
            <a:r>
              <a:rPr lang="en-US" sz="1550" b="1" dirty="0">
                <a:solidFill>
                  <a:srgbClr val="3A3630"/>
                </a:solidFill>
                <a:latin typeface="Source Sans 3" pitchFamily="34" charset="0"/>
                <a:ea typeface="Source Sans 3" pitchFamily="34" charset="-122"/>
                <a:cs typeface="Source Sans 3" pitchFamily="34" charset="-120"/>
              </a:rPr>
              <a:t>Communication: REST API</a:t>
            </a:r>
            <a:r>
              <a:rPr lang="en-US" sz="1550" dirty="0">
                <a:solidFill>
                  <a:srgbClr val="3A3630"/>
                </a:solidFill>
                <a:latin typeface="Source Sans 3" pitchFamily="34" charset="0"/>
                <a:ea typeface="Source Sans 3" pitchFamily="34" charset="-122"/>
                <a:cs typeface="Source Sans 3" pitchFamily="34" charset="-120"/>
              </a:rPr>
              <a:t>Standardized protocol for flexible and scalable communication between frontend and backend.</a:t>
            </a:r>
            <a:endParaRPr lang="en-US" sz="1550" dirty="0"/>
          </a:p>
        </p:txBody>
      </p:sp>
      <p:sp>
        <p:nvSpPr>
          <p:cNvPr id="8" name="Text 5"/>
          <p:cNvSpPr/>
          <p:nvPr/>
        </p:nvSpPr>
        <p:spPr>
          <a:xfrm>
            <a:off x="7563088" y="5098375"/>
            <a:ext cx="6245662" cy="945118"/>
          </a:xfrm>
          <a:prstGeom prst="rect">
            <a:avLst/>
          </a:prstGeom>
          <a:noFill/>
          <a:ln/>
        </p:spPr>
        <p:txBody>
          <a:bodyPr wrap="square" lIns="0" tIns="0" rIns="0" bIns="0" rtlCol="0" anchor="t"/>
          <a:lstStyle/>
          <a:p>
            <a:pPr marL="342900" indent="-342900" algn="l">
              <a:lnSpc>
                <a:spcPts val="2450"/>
              </a:lnSpc>
              <a:buSzPct val="100000"/>
              <a:buChar char="•"/>
            </a:pPr>
            <a:r>
              <a:rPr lang="en-US" sz="1550" b="1" dirty="0">
                <a:solidFill>
                  <a:srgbClr val="3A3630"/>
                </a:solidFill>
                <a:latin typeface="Source Sans 3" pitchFamily="34" charset="0"/>
                <a:ea typeface="Source Sans 3" pitchFamily="34" charset="-122"/>
                <a:cs typeface="Source Sans 3" pitchFamily="34" charset="-120"/>
              </a:rPr>
              <a:t>Data Format: JSON</a:t>
            </a:r>
            <a:r>
              <a:rPr lang="en-US" sz="1550" dirty="0">
                <a:solidFill>
                  <a:srgbClr val="3A3630"/>
                </a:solidFill>
                <a:latin typeface="Source Sans 3" pitchFamily="34" charset="0"/>
                <a:ea typeface="Source Sans 3" pitchFamily="34" charset="-122"/>
                <a:cs typeface="Source Sans 3" pitchFamily="34" charset="-120"/>
              </a:rPr>
              <a:t>Lightweight and widely-used format for data exchange, ensuring efficient parsing and transmission.</a:t>
            </a:r>
            <a:endParaRPr lang="en-US" sz="1550" dirty="0"/>
          </a:p>
        </p:txBody>
      </p:sp>
      <p:sp>
        <p:nvSpPr>
          <p:cNvPr id="9" name="Text 6"/>
          <p:cNvSpPr/>
          <p:nvPr/>
        </p:nvSpPr>
        <p:spPr>
          <a:xfrm>
            <a:off x="829270" y="7033022"/>
            <a:ext cx="12971859" cy="630079"/>
          </a:xfrm>
          <a:prstGeom prst="rect">
            <a:avLst/>
          </a:prstGeom>
          <a:noFill/>
          <a:ln/>
        </p:spPr>
        <p:txBody>
          <a:bodyPr wrap="square" lIns="0" tIns="0" rIns="0" bIns="0" rtlCol="0" anchor="t"/>
          <a:lstStyle/>
          <a:p>
            <a:pPr marL="0" indent="0" algn="l">
              <a:lnSpc>
                <a:spcPts val="2450"/>
              </a:lnSpc>
              <a:buNone/>
            </a:pPr>
            <a:r>
              <a:rPr lang="en-US" sz="1550" dirty="0">
                <a:solidFill>
                  <a:srgbClr val="3A3630"/>
                </a:solidFill>
                <a:latin typeface="Source Sans 3" pitchFamily="34" charset="0"/>
                <a:ea typeface="Source Sans 3" pitchFamily="34" charset="-122"/>
                <a:cs typeface="Source Sans 3" pitchFamily="34" charset="-120"/>
              </a:rPr>
              <a:t>This architecture provides a clear separation of concerns, enabling independent development and scaling of each component while ensuring seamless integration for optimal performance.</a:t>
            </a:r>
            <a:endParaRPr lang="en-US" sz="1550" dirty="0"/>
          </a:p>
        </p:txBody>
      </p:sp>
      <p:pic>
        <p:nvPicPr>
          <p:cNvPr id="11" name="Picture 10">
            <a:extLst>
              <a:ext uri="{FF2B5EF4-FFF2-40B4-BE49-F238E27FC236}">
                <a16:creationId xmlns:a16="http://schemas.microsoft.com/office/drawing/2014/main" id="{28E335FF-0D78-B85C-4F1D-A11CA7646B95}"/>
              </a:ext>
            </a:extLst>
          </p:cNvPr>
          <p:cNvPicPr>
            <a:picLocks noChangeAspect="1"/>
          </p:cNvPicPr>
          <p:nvPr/>
        </p:nvPicPr>
        <p:blipFill>
          <a:blip r:embed="rId4"/>
          <a:stretch>
            <a:fillRect/>
          </a:stretch>
        </p:blipFill>
        <p:spPr>
          <a:xfrm>
            <a:off x="11779890" y="7710691"/>
            <a:ext cx="2810267" cy="48584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24124" y="704850"/>
            <a:ext cx="7468553" cy="1108710"/>
          </a:xfrm>
          <a:prstGeom prst="rect">
            <a:avLst/>
          </a:prstGeom>
          <a:noFill/>
          <a:ln/>
        </p:spPr>
        <p:txBody>
          <a:bodyPr wrap="square" lIns="0" tIns="0" rIns="0" bIns="0" rtlCol="0" anchor="t"/>
          <a:lstStyle/>
          <a:p>
            <a:pPr marL="0" indent="0" algn="l">
              <a:lnSpc>
                <a:spcPts val="4350"/>
              </a:lnSpc>
              <a:buNone/>
            </a:pPr>
            <a:r>
              <a:rPr lang="en-US" sz="3450" dirty="0">
                <a:solidFill>
                  <a:srgbClr val="38512F"/>
                </a:solidFill>
                <a:latin typeface="Lora" pitchFamily="34" charset="0"/>
                <a:ea typeface="Lora" pitchFamily="34" charset="-122"/>
                <a:cs typeface="Lora" pitchFamily="34" charset="-120"/>
              </a:rPr>
              <a:t>Backend Implementation: Powering Predictions with FastAPI</a:t>
            </a:r>
            <a:endParaRPr lang="en-US" sz="3450" dirty="0"/>
          </a:p>
        </p:txBody>
      </p:sp>
      <p:sp>
        <p:nvSpPr>
          <p:cNvPr id="4" name="Shape 1"/>
          <p:cNvSpPr/>
          <p:nvPr/>
        </p:nvSpPr>
        <p:spPr>
          <a:xfrm>
            <a:off x="6324124" y="2096214"/>
            <a:ext cx="3639979" cy="2274451"/>
          </a:xfrm>
          <a:prstGeom prst="roundRect">
            <a:avLst>
              <a:gd name="adj" fmla="val 1243"/>
            </a:avLst>
          </a:prstGeom>
          <a:solidFill>
            <a:srgbClr val="F3E7D4"/>
          </a:solidFill>
          <a:ln/>
        </p:spPr>
      </p:sp>
      <p:sp>
        <p:nvSpPr>
          <p:cNvPr id="5" name="Text 2"/>
          <p:cNvSpPr/>
          <p:nvPr/>
        </p:nvSpPr>
        <p:spPr>
          <a:xfrm>
            <a:off x="6512600" y="2284690"/>
            <a:ext cx="2217777" cy="277178"/>
          </a:xfrm>
          <a:prstGeom prst="rect">
            <a:avLst/>
          </a:prstGeom>
          <a:noFill/>
          <a:ln/>
        </p:spPr>
        <p:txBody>
          <a:bodyPr wrap="none" lIns="0" tIns="0" rIns="0" bIns="0" rtlCol="0" anchor="t"/>
          <a:lstStyle/>
          <a:p>
            <a:pPr marL="0" indent="0" algn="l">
              <a:lnSpc>
                <a:spcPts val="2150"/>
              </a:lnSpc>
              <a:buNone/>
            </a:pPr>
            <a:r>
              <a:rPr lang="en-US" sz="1700" dirty="0">
                <a:solidFill>
                  <a:srgbClr val="3A3630"/>
                </a:solidFill>
                <a:latin typeface="Lora" pitchFamily="34" charset="0"/>
                <a:ea typeface="Lora" pitchFamily="34" charset="-122"/>
                <a:cs typeface="Lora" pitchFamily="34" charset="-120"/>
              </a:rPr>
              <a:t>FastAPI Server Setup</a:t>
            </a:r>
            <a:endParaRPr lang="en-US" sz="1700" dirty="0"/>
          </a:p>
        </p:txBody>
      </p:sp>
      <p:sp>
        <p:nvSpPr>
          <p:cNvPr id="6" name="Text 3"/>
          <p:cNvSpPr/>
          <p:nvPr/>
        </p:nvSpPr>
        <p:spPr>
          <a:xfrm>
            <a:off x="6512600" y="2674858"/>
            <a:ext cx="3263027" cy="1507331"/>
          </a:xfrm>
          <a:prstGeom prst="rect">
            <a:avLst/>
          </a:prstGeom>
          <a:noFill/>
          <a:ln/>
        </p:spPr>
        <p:txBody>
          <a:bodyPr wrap="square" lIns="0" tIns="0" rIns="0" bIns="0" rtlCol="0" anchor="t"/>
          <a:lstStyle/>
          <a:p>
            <a:pPr marL="0" indent="0" algn="l">
              <a:lnSpc>
                <a:spcPts val="2350"/>
              </a:lnSpc>
              <a:buNone/>
            </a:pPr>
            <a:r>
              <a:rPr lang="en-US" sz="1450" dirty="0">
                <a:solidFill>
                  <a:srgbClr val="3A3630"/>
                </a:solidFill>
                <a:latin typeface="Source Sans 3" pitchFamily="34" charset="0"/>
                <a:ea typeface="Source Sans 3" pitchFamily="34" charset="-122"/>
                <a:cs typeface="Source Sans 3" pitchFamily="34" charset="-120"/>
              </a:rPr>
              <a:t>The core of our backend, providing a modern, fast (high-performance) web framework for building APIs with Python 3.7+ based on standard Python type hints.</a:t>
            </a:r>
            <a:endParaRPr lang="en-US" sz="1450" dirty="0"/>
          </a:p>
        </p:txBody>
      </p:sp>
      <p:sp>
        <p:nvSpPr>
          <p:cNvPr id="7" name="Shape 4"/>
          <p:cNvSpPr/>
          <p:nvPr/>
        </p:nvSpPr>
        <p:spPr>
          <a:xfrm>
            <a:off x="10152578" y="2096214"/>
            <a:ext cx="3640098" cy="2274451"/>
          </a:xfrm>
          <a:prstGeom prst="roundRect">
            <a:avLst>
              <a:gd name="adj" fmla="val 1243"/>
            </a:avLst>
          </a:prstGeom>
          <a:solidFill>
            <a:srgbClr val="F3E7D4"/>
          </a:solidFill>
          <a:ln/>
        </p:spPr>
      </p:sp>
      <p:sp>
        <p:nvSpPr>
          <p:cNvPr id="8" name="Text 5"/>
          <p:cNvSpPr/>
          <p:nvPr/>
        </p:nvSpPr>
        <p:spPr>
          <a:xfrm>
            <a:off x="10341054" y="2284690"/>
            <a:ext cx="2547818" cy="277178"/>
          </a:xfrm>
          <a:prstGeom prst="rect">
            <a:avLst/>
          </a:prstGeom>
          <a:noFill/>
          <a:ln/>
        </p:spPr>
        <p:txBody>
          <a:bodyPr wrap="none" lIns="0" tIns="0" rIns="0" bIns="0" rtlCol="0" anchor="t"/>
          <a:lstStyle/>
          <a:p>
            <a:pPr marL="0" indent="0" algn="l">
              <a:lnSpc>
                <a:spcPts val="2150"/>
              </a:lnSpc>
              <a:buNone/>
            </a:pPr>
            <a:r>
              <a:rPr lang="en-US" sz="1700" dirty="0">
                <a:solidFill>
                  <a:srgbClr val="3A3630"/>
                </a:solidFill>
                <a:latin typeface="Lora" pitchFamily="34" charset="0"/>
                <a:ea typeface="Lora" pitchFamily="34" charset="-122"/>
                <a:cs typeface="Lora" pitchFamily="34" charset="-120"/>
              </a:rPr>
              <a:t>Model Loaded at Startup</a:t>
            </a:r>
            <a:endParaRPr lang="en-US" sz="1700" dirty="0"/>
          </a:p>
        </p:txBody>
      </p:sp>
      <p:sp>
        <p:nvSpPr>
          <p:cNvPr id="9" name="Text 6"/>
          <p:cNvSpPr/>
          <p:nvPr/>
        </p:nvSpPr>
        <p:spPr>
          <a:xfrm>
            <a:off x="10341054" y="2674858"/>
            <a:ext cx="3263146" cy="1507331"/>
          </a:xfrm>
          <a:prstGeom prst="rect">
            <a:avLst/>
          </a:prstGeom>
          <a:noFill/>
          <a:ln/>
        </p:spPr>
        <p:txBody>
          <a:bodyPr wrap="square" lIns="0" tIns="0" rIns="0" bIns="0" rtlCol="0" anchor="t"/>
          <a:lstStyle/>
          <a:p>
            <a:pPr marL="0" indent="0" algn="l">
              <a:lnSpc>
                <a:spcPts val="2350"/>
              </a:lnSpc>
              <a:buNone/>
            </a:pPr>
            <a:r>
              <a:rPr lang="en-US" sz="1450" dirty="0">
                <a:solidFill>
                  <a:srgbClr val="3A3630"/>
                </a:solidFill>
                <a:latin typeface="Source Sans 3" pitchFamily="34" charset="0"/>
                <a:ea typeface="Source Sans 3" pitchFamily="34" charset="-122"/>
                <a:cs typeface="Source Sans 3" pitchFamily="34" charset="-120"/>
              </a:rPr>
              <a:t>The trained Logistic Regression pipeline is loaded into memory once when the FastAPI application starts, minimizing latency for subsequent prediction requests.</a:t>
            </a:r>
            <a:endParaRPr lang="en-US" sz="1450" dirty="0"/>
          </a:p>
        </p:txBody>
      </p:sp>
      <p:sp>
        <p:nvSpPr>
          <p:cNvPr id="10" name="Shape 7"/>
          <p:cNvSpPr/>
          <p:nvPr/>
        </p:nvSpPr>
        <p:spPr>
          <a:xfrm>
            <a:off x="6324124" y="4559141"/>
            <a:ext cx="7468553" cy="2150626"/>
          </a:xfrm>
          <a:prstGeom prst="roundRect">
            <a:avLst>
              <a:gd name="adj" fmla="val 1315"/>
            </a:avLst>
          </a:prstGeom>
          <a:solidFill>
            <a:srgbClr val="F3E7D4"/>
          </a:solidFill>
          <a:ln/>
        </p:spPr>
      </p:sp>
      <p:sp>
        <p:nvSpPr>
          <p:cNvPr id="11" name="Text 8"/>
          <p:cNvSpPr/>
          <p:nvPr/>
        </p:nvSpPr>
        <p:spPr>
          <a:xfrm>
            <a:off x="6512600" y="4747617"/>
            <a:ext cx="2527340" cy="277178"/>
          </a:xfrm>
          <a:prstGeom prst="rect">
            <a:avLst/>
          </a:prstGeom>
          <a:noFill/>
          <a:ln/>
        </p:spPr>
        <p:txBody>
          <a:bodyPr wrap="none" lIns="0" tIns="0" rIns="0" bIns="0" rtlCol="0" anchor="t"/>
          <a:lstStyle/>
          <a:p>
            <a:pPr marL="0" indent="0" algn="l">
              <a:lnSpc>
                <a:spcPts val="2150"/>
              </a:lnSpc>
              <a:buNone/>
            </a:pPr>
            <a:r>
              <a:rPr lang="en-US" sz="1700" dirty="0">
                <a:solidFill>
                  <a:srgbClr val="3A3630"/>
                </a:solidFill>
                <a:latin typeface="Lora" pitchFamily="34" charset="0"/>
                <a:ea typeface="Lora" pitchFamily="34" charset="-122"/>
                <a:cs typeface="Lora" pitchFamily="34" charset="-120"/>
              </a:rPr>
              <a:t>Defined REST Endpoints</a:t>
            </a:r>
            <a:endParaRPr lang="en-US" sz="1700" dirty="0"/>
          </a:p>
        </p:txBody>
      </p:sp>
      <p:sp>
        <p:nvSpPr>
          <p:cNvPr id="12" name="Text 9"/>
          <p:cNvSpPr/>
          <p:nvPr/>
        </p:nvSpPr>
        <p:spPr>
          <a:xfrm>
            <a:off x="6512600" y="5137785"/>
            <a:ext cx="7091601" cy="316706"/>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3A3630"/>
                </a:solidFill>
                <a:highlight>
                  <a:srgbClr val="F1E8DA"/>
                </a:highlight>
                <a:latin typeface="Consolas" pitchFamily="34" charset="0"/>
                <a:ea typeface="Consolas" pitchFamily="34" charset="-122"/>
                <a:cs typeface="Consolas" pitchFamily="34" charset="-120"/>
              </a:rPr>
              <a:t>/</a:t>
            </a:r>
            <a:r>
              <a:rPr lang="en-US" sz="1450" dirty="0">
                <a:solidFill>
                  <a:srgbClr val="3A3630"/>
                </a:solidFill>
                <a:latin typeface="Source Sans 3" pitchFamily="34" charset="0"/>
                <a:ea typeface="Source Sans 3" pitchFamily="34" charset="-122"/>
                <a:cs typeface="Source Sans 3" pitchFamily="34" charset="-120"/>
              </a:rPr>
              <a:t>: Root endpoint, typically for basic service status or an introductory message.</a:t>
            </a:r>
            <a:endParaRPr lang="en-US" sz="1450" dirty="0"/>
          </a:p>
        </p:txBody>
      </p:sp>
      <p:sp>
        <p:nvSpPr>
          <p:cNvPr id="13" name="Text 10"/>
          <p:cNvSpPr/>
          <p:nvPr/>
        </p:nvSpPr>
        <p:spPr>
          <a:xfrm>
            <a:off x="6512600" y="5520452"/>
            <a:ext cx="7091601" cy="316706"/>
          </a:xfrm>
          <a:prstGeom prst="rect">
            <a:avLst/>
          </a:prstGeom>
          <a:noFill/>
          <a:ln/>
        </p:spPr>
        <p:txBody>
          <a:bodyPr wrap="none" lIns="0" tIns="0" rIns="0" bIns="0" rtlCol="0" anchor="t"/>
          <a:lstStyle/>
          <a:p>
            <a:pPr marL="342900" indent="-342900" algn="l">
              <a:lnSpc>
                <a:spcPts val="2350"/>
              </a:lnSpc>
              <a:buSzPct val="100000"/>
              <a:buChar char="•"/>
            </a:pPr>
            <a:r>
              <a:rPr lang="en-US" sz="1450" dirty="0">
                <a:solidFill>
                  <a:srgbClr val="3A3630"/>
                </a:solidFill>
                <a:highlight>
                  <a:srgbClr val="F1E8DA"/>
                </a:highlight>
                <a:latin typeface="Consolas" pitchFamily="34" charset="0"/>
                <a:ea typeface="Consolas" pitchFamily="34" charset="-122"/>
                <a:cs typeface="Consolas" pitchFamily="34" charset="-120"/>
              </a:rPr>
              <a:t>/health</a:t>
            </a:r>
            <a:r>
              <a:rPr lang="en-US" sz="1450" dirty="0">
                <a:solidFill>
                  <a:srgbClr val="3A3630"/>
                </a:solidFill>
                <a:latin typeface="Source Sans 3" pitchFamily="34" charset="0"/>
                <a:ea typeface="Source Sans 3" pitchFamily="34" charset="-122"/>
                <a:cs typeface="Source Sans 3" pitchFamily="34" charset="-120"/>
              </a:rPr>
              <a:t>: Provides a health check, crucial for monitoring the API's operational status.</a:t>
            </a:r>
            <a:endParaRPr lang="en-US" sz="1450" dirty="0"/>
          </a:p>
        </p:txBody>
      </p:sp>
      <p:sp>
        <p:nvSpPr>
          <p:cNvPr id="14" name="Text 11"/>
          <p:cNvSpPr/>
          <p:nvPr/>
        </p:nvSpPr>
        <p:spPr>
          <a:xfrm>
            <a:off x="6512600" y="5903119"/>
            <a:ext cx="7091601" cy="618173"/>
          </a:xfrm>
          <a:prstGeom prst="rect">
            <a:avLst/>
          </a:prstGeom>
          <a:noFill/>
          <a:ln/>
        </p:spPr>
        <p:txBody>
          <a:bodyPr wrap="square" lIns="0" tIns="0" rIns="0" bIns="0" rtlCol="0" anchor="t"/>
          <a:lstStyle/>
          <a:p>
            <a:pPr marL="342900" indent="-342900" algn="l">
              <a:lnSpc>
                <a:spcPts val="2350"/>
              </a:lnSpc>
              <a:buSzPct val="100000"/>
              <a:buChar char="•"/>
            </a:pPr>
            <a:r>
              <a:rPr lang="en-US" sz="1450" dirty="0">
                <a:solidFill>
                  <a:srgbClr val="3A3630"/>
                </a:solidFill>
                <a:highlight>
                  <a:srgbClr val="F1E8DA"/>
                </a:highlight>
                <a:latin typeface="Consolas" pitchFamily="34" charset="0"/>
                <a:ea typeface="Consolas" pitchFamily="34" charset="-122"/>
                <a:cs typeface="Consolas" pitchFamily="34" charset="-120"/>
              </a:rPr>
              <a:t>/predict</a:t>
            </a:r>
            <a:r>
              <a:rPr lang="en-US" sz="1450" dirty="0">
                <a:solidFill>
                  <a:srgbClr val="3A3630"/>
                </a:solidFill>
                <a:latin typeface="Source Sans 3" pitchFamily="34" charset="0"/>
                <a:ea typeface="Source Sans 3" pitchFamily="34" charset="-122"/>
                <a:cs typeface="Source Sans 3" pitchFamily="34" charset="-120"/>
              </a:rPr>
              <a:t>: The primary endpoint for submitting job descriptions and receiving predictions.</a:t>
            </a:r>
            <a:endParaRPr lang="en-US" sz="1450" dirty="0"/>
          </a:p>
        </p:txBody>
      </p:sp>
      <p:sp>
        <p:nvSpPr>
          <p:cNvPr id="15" name="Text 12"/>
          <p:cNvSpPr/>
          <p:nvPr/>
        </p:nvSpPr>
        <p:spPr>
          <a:xfrm>
            <a:off x="6324124" y="6931343"/>
            <a:ext cx="7468553" cy="602933"/>
          </a:xfrm>
          <a:prstGeom prst="rect">
            <a:avLst/>
          </a:prstGeom>
          <a:noFill/>
          <a:ln/>
        </p:spPr>
        <p:txBody>
          <a:bodyPr wrap="square" lIns="0" tIns="0" rIns="0" bIns="0" rtlCol="0" anchor="t"/>
          <a:lstStyle/>
          <a:p>
            <a:pPr marL="0" indent="0" algn="l">
              <a:lnSpc>
                <a:spcPts val="2350"/>
              </a:lnSpc>
              <a:buNone/>
            </a:pPr>
            <a:r>
              <a:rPr lang="en-US" sz="1450" dirty="0">
                <a:solidFill>
                  <a:srgbClr val="3A3630"/>
                </a:solidFill>
                <a:latin typeface="Source Sans 3" pitchFamily="34" charset="0"/>
                <a:ea typeface="Source Sans 3" pitchFamily="34" charset="-122"/>
                <a:cs typeface="Source Sans 3" pitchFamily="34" charset="-120"/>
              </a:rPr>
              <a:t>This structured backend implementation ensures efficiency, reliability, and easy maintenance for our prediction service.</a:t>
            </a:r>
            <a:endParaRPr lang="en-US" sz="1450" dirty="0"/>
          </a:p>
        </p:txBody>
      </p:sp>
      <p:pic>
        <p:nvPicPr>
          <p:cNvPr id="17" name="Picture 16">
            <a:extLst>
              <a:ext uri="{FF2B5EF4-FFF2-40B4-BE49-F238E27FC236}">
                <a16:creationId xmlns:a16="http://schemas.microsoft.com/office/drawing/2014/main" id="{5401AC2D-CCE6-A5B9-C8CD-2A74CF576754}"/>
              </a:ext>
            </a:extLst>
          </p:cNvPr>
          <p:cNvPicPr>
            <a:picLocks noChangeAspect="1"/>
          </p:cNvPicPr>
          <p:nvPr/>
        </p:nvPicPr>
        <p:blipFill>
          <a:blip r:embed="rId4"/>
          <a:stretch>
            <a:fillRect/>
          </a:stretch>
        </p:blipFill>
        <p:spPr>
          <a:xfrm>
            <a:off x="11820133" y="7743757"/>
            <a:ext cx="2810267" cy="48584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618184"/>
          </a:xfrm>
          <a:prstGeom prst="rect">
            <a:avLst/>
          </a:prstGeom>
        </p:spPr>
      </p:pic>
      <p:sp>
        <p:nvSpPr>
          <p:cNvPr id="3" name="Text 0"/>
          <p:cNvSpPr/>
          <p:nvPr/>
        </p:nvSpPr>
        <p:spPr>
          <a:xfrm>
            <a:off x="837724" y="3195161"/>
            <a:ext cx="7856339" cy="615910"/>
          </a:xfrm>
          <a:prstGeom prst="rect">
            <a:avLst/>
          </a:prstGeom>
          <a:noFill/>
          <a:ln/>
        </p:spPr>
        <p:txBody>
          <a:bodyPr wrap="none" lIns="0" tIns="0" rIns="0" bIns="0" rtlCol="0" anchor="t"/>
          <a:lstStyle/>
          <a:p>
            <a:pPr marL="0" indent="0" algn="l">
              <a:lnSpc>
                <a:spcPts val="4850"/>
              </a:lnSpc>
              <a:buNone/>
            </a:pPr>
            <a:r>
              <a:rPr lang="en-US" sz="3850" dirty="0">
                <a:solidFill>
                  <a:srgbClr val="38512F"/>
                </a:solidFill>
                <a:latin typeface="Lora" pitchFamily="34" charset="0"/>
                <a:ea typeface="Lora" pitchFamily="34" charset="-122"/>
                <a:cs typeface="Lora" pitchFamily="34" charset="-120"/>
              </a:rPr>
              <a:t>The Prediction Endpoint: /predict</a:t>
            </a:r>
            <a:endParaRPr lang="en-US" sz="3850" dirty="0"/>
          </a:p>
        </p:txBody>
      </p:sp>
      <p:sp>
        <p:nvSpPr>
          <p:cNvPr id="4" name="Text 1"/>
          <p:cNvSpPr/>
          <p:nvPr/>
        </p:nvSpPr>
        <p:spPr>
          <a:xfrm>
            <a:off x="837724" y="4334589"/>
            <a:ext cx="2464118" cy="308015"/>
          </a:xfrm>
          <a:prstGeom prst="rect">
            <a:avLst/>
          </a:prstGeom>
          <a:noFill/>
          <a:ln/>
        </p:spPr>
        <p:txBody>
          <a:bodyPr wrap="none" lIns="0" tIns="0" rIns="0" bIns="0" rtlCol="0" anchor="t"/>
          <a:lstStyle/>
          <a:p>
            <a:pPr marL="0" indent="0" algn="l">
              <a:lnSpc>
                <a:spcPts val="2400"/>
              </a:lnSpc>
              <a:buNone/>
            </a:pPr>
            <a:r>
              <a:rPr lang="en-US" sz="1900" dirty="0">
                <a:solidFill>
                  <a:srgbClr val="38512F"/>
                </a:solidFill>
                <a:latin typeface="Lora" pitchFamily="34" charset="0"/>
                <a:ea typeface="Lora" pitchFamily="34" charset="-122"/>
                <a:cs typeface="Lora" pitchFamily="34" charset="-120"/>
              </a:rPr>
              <a:t>Request Handling</a:t>
            </a:r>
            <a:endParaRPr lang="en-US" sz="1900" dirty="0"/>
          </a:p>
        </p:txBody>
      </p:sp>
      <p:sp>
        <p:nvSpPr>
          <p:cNvPr id="5" name="Text 2"/>
          <p:cNvSpPr/>
          <p:nvPr/>
        </p:nvSpPr>
        <p:spPr>
          <a:xfrm>
            <a:off x="837724" y="4852035"/>
            <a:ext cx="6221968" cy="670084"/>
          </a:xfrm>
          <a:prstGeom prst="rect">
            <a:avLst/>
          </a:prstGeom>
          <a:noFill/>
          <a:ln/>
        </p:spPr>
        <p:txBody>
          <a:bodyPr wrap="square" lIns="0" tIns="0" rIns="0" bIns="0" rtlCol="0" anchor="t"/>
          <a:lstStyle/>
          <a:p>
            <a:pPr marL="342900" indent="-342900" algn="l">
              <a:lnSpc>
                <a:spcPts val="2600"/>
              </a:lnSpc>
              <a:buSzPct val="100000"/>
              <a:buChar char="•"/>
            </a:pPr>
            <a:r>
              <a:rPr lang="en-US" sz="1600" b="1" dirty="0">
                <a:solidFill>
                  <a:srgbClr val="3A3630"/>
                </a:solidFill>
                <a:latin typeface="Source Sans 3" pitchFamily="34" charset="0"/>
                <a:ea typeface="Source Sans 3" pitchFamily="34" charset="-122"/>
                <a:cs typeface="Source Sans 3" pitchFamily="34" charset="-120"/>
              </a:rPr>
              <a:t>Accepts POST Request:</a:t>
            </a:r>
            <a:r>
              <a:rPr lang="en-US" sz="1600" dirty="0">
                <a:solidFill>
                  <a:srgbClr val="3A3630"/>
                </a:solidFill>
                <a:latin typeface="Source Sans 3" pitchFamily="34" charset="0"/>
                <a:ea typeface="Source Sans 3" pitchFamily="34" charset="-122"/>
                <a:cs typeface="Source Sans 3" pitchFamily="34" charset="-120"/>
              </a:rPr>
              <a:t> Designed to securely receive job description data.</a:t>
            </a:r>
            <a:endParaRPr lang="en-US" sz="1600" dirty="0"/>
          </a:p>
        </p:txBody>
      </p:sp>
      <p:sp>
        <p:nvSpPr>
          <p:cNvPr id="6" name="Text 3"/>
          <p:cNvSpPr/>
          <p:nvPr/>
        </p:nvSpPr>
        <p:spPr>
          <a:xfrm>
            <a:off x="837724" y="5595342"/>
            <a:ext cx="6221968" cy="670084"/>
          </a:xfrm>
          <a:prstGeom prst="rect">
            <a:avLst/>
          </a:prstGeom>
          <a:noFill/>
          <a:ln/>
        </p:spPr>
        <p:txBody>
          <a:bodyPr wrap="square" lIns="0" tIns="0" rIns="0" bIns="0" rtlCol="0" anchor="t"/>
          <a:lstStyle/>
          <a:p>
            <a:pPr marL="342900" indent="-342900" algn="l">
              <a:lnSpc>
                <a:spcPts val="2600"/>
              </a:lnSpc>
              <a:buSzPct val="100000"/>
              <a:buChar char="•"/>
            </a:pPr>
            <a:r>
              <a:rPr lang="en-US" sz="1600" b="1" dirty="0">
                <a:solidFill>
                  <a:srgbClr val="3A3630"/>
                </a:solidFill>
                <a:latin typeface="Source Sans 3" pitchFamily="34" charset="0"/>
                <a:ea typeface="Source Sans 3" pitchFamily="34" charset="-122"/>
                <a:cs typeface="Source Sans 3" pitchFamily="34" charset="-120"/>
              </a:rPr>
              <a:t>Input: Job Description Text:</a:t>
            </a:r>
            <a:r>
              <a:rPr lang="en-US" sz="1600" dirty="0">
                <a:solidFill>
                  <a:srgbClr val="3A3630"/>
                </a:solidFill>
                <a:latin typeface="Source Sans 3" pitchFamily="34" charset="0"/>
                <a:ea typeface="Source Sans 3" pitchFamily="34" charset="-122"/>
                <a:cs typeface="Source Sans 3" pitchFamily="34" charset="-120"/>
              </a:rPr>
              <a:t> Expects the full text of a job posting as a string.</a:t>
            </a:r>
            <a:endParaRPr lang="en-US" sz="1600" dirty="0"/>
          </a:p>
        </p:txBody>
      </p:sp>
      <p:sp>
        <p:nvSpPr>
          <p:cNvPr id="7" name="Text 4"/>
          <p:cNvSpPr/>
          <p:nvPr/>
        </p:nvSpPr>
        <p:spPr>
          <a:xfrm>
            <a:off x="837724" y="6338649"/>
            <a:ext cx="6221968" cy="670084"/>
          </a:xfrm>
          <a:prstGeom prst="rect">
            <a:avLst/>
          </a:prstGeom>
          <a:noFill/>
          <a:ln/>
        </p:spPr>
        <p:txBody>
          <a:bodyPr wrap="square" lIns="0" tIns="0" rIns="0" bIns="0" rtlCol="0" anchor="t"/>
          <a:lstStyle/>
          <a:p>
            <a:pPr marL="342900" indent="-342900" algn="l">
              <a:lnSpc>
                <a:spcPts val="2600"/>
              </a:lnSpc>
              <a:buSzPct val="100000"/>
              <a:buChar char="•"/>
            </a:pPr>
            <a:r>
              <a:rPr lang="en-US" sz="1600" b="1" dirty="0">
                <a:solidFill>
                  <a:srgbClr val="3A3630"/>
                </a:solidFill>
                <a:latin typeface="Source Sans 3" pitchFamily="34" charset="0"/>
                <a:ea typeface="Source Sans 3" pitchFamily="34" charset="-122"/>
                <a:cs typeface="Source Sans 3" pitchFamily="34" charset="-120"/>
              </a:rPr>
              <a:t>Input Validation:</a:t>
            </a:r>
            <a:r>
              <a:rPr lang="en-US" sz="1600" dirty="0">
                <a:solidFill>
                  <a:srgbClr val="3A3630"/>
                </a:solidFill>
                <a:latin typeface="Source Sans 3" pitchFamily="34" charset="0"/>
                <a:ea typeface="Source Sans 3" pitchFamily="34" charset="-122"/>
                <a:cs typeface="Source Sans 3" pitchFamily="34" charset="-120"/>
              </a:rPr>
              <a:t> Automatically checks for valid input length and format to prevent errors and ensure data quality.</a:t>
            </a:r>
            <a:endParaRPr lang="en-US" sz="1600" dirty="0"/>
          </a:p>
        </p:txBody>
      </p:sp>
      <p:sp>
        <p:nvSpPr>
          <p:cNvPr id="8" name="Text 5"/>
          <p:cNvSpPr/>
          <p:nvPr/>
        </p:nvSpPr>
        <p:spPr>
          <a:xfrm>
            <a:off x="7578328" y="4334589"/>
            <a:ext cx="2486620" cy="308015"/>
          </a:xfrm>
          <a:prstGeom prst="rect">
            <a:avLst/>
          </a:prstGeom>
          <a:noFill/>
          <a:ln/>
        </p:spPr>
        <p:txBody>
          <a:bodyPr wrap="none" lIns="0" tIns="0" rIns="0" bIns="0" rtlCol="0" anchor="t"/>
          <a:lstStyle/>
          <a:p>
            <a:pPr marL="0" indent="0" algn="l">
              <a:lnSpc>
                <a:spcPts val="2400"/>
              </a:lnSpc>
              <a:buNone/>
            </a:pPr>
            <a:r>
              <a:rPr lang="en-US" sz="1900" dirty="0">
                <a:solidFill>
                  <a:srgbClr val="38512F"/>
                </a:solidFill>
                <a:latin typeface="Lora" pitchFamily="34" charset="0"/>
                <a:ea typeface="Lora" pitchFamily="34" charset="-122"/>
                <a:cs typeface="Lora" pitchFamily="34" charset="-120"/>
              </a:rPr>
              <a:t>Inference &amp; Response</a:t>
            </a:r>
            <a:endParaRPr lang="en-US" sz="1900" dirty="0"/>
          </a:p>
        </p:txBody>
      </p:sp>
      <p:sp>
        <p:nvSpPr>
          <p:cNvPr id="9" name="Text 6"/>
          <p:cNvSpPr/>
          <p:nvPr/>
        </p:nvSpPr>
        <p:spPr>
          <a:xfrm>
            <a:off x="7578328" y="4852035"/>
            <a:ext cx="6221968" cy="670084"/>
          </a:xfrm>
          <a:prstGeom prst="rect">
            <a:avLst/>
          </a:prstGeom>
          <a:noFill/>
          <a:ln/>
        </p:spPr>
        <p:txBody>
          <a:bodyPr wrap="square" lIns="0" tIns="0" rIns="0" bIns="0" rtlCol="0" anchor="t"/>
          <a:lstStyle/>
          <a:p>
            <a:pPr marL="342900" indent="-342900" algn="l">
              <a:lnSpc>
                <a:spcPts val="2600"/>
              </a:lnSpc>
              <a:buSzPct val="100000"/>
              <a:buChar char="•"/>
            </a:pPr>
            <a:r>
              <a:rPr lang="en-US" sz="1600" b="1" dirty="0">
                <a:solidFill>
                  <a:srgbClr val="3A3630"/>
                </a:solidFill>
                <a:latin typeface="Source Sans 3" pitchFamily="34" charset="0"/>
                <a:ea typeface="Source Sans 3" pitchFamily="34" charset="-122"/>
                <a:cs typeface="Source Sans 3" pitchFamily="34" charset="-120"/>
              </a:rPr>
              <a:t>Uses Pipeline for Inference:</a:t>
            </a:r>
            <a:r>
              <a:rPr lang="en-US" sz="1600" dirty="0">
                <a:solidFill>
                  <a:srgbClr val="3A3630"/>
                </a:solidFill>
                <a:latin typeface="Source Sans 3" pitchFamily="34" charset="0"/>
                <a:ea typeface="Source Sans 3" pitchFamily="34" charset="-122"/>
                <a:cs typeface="Source Sans 3" pitchFamily="34" charset="-120"/>
              </a:rPr>
              <a:t> The received text is passed directly to the pre-loaded NLP pipeline for classification.</a:t>
            </a:r>
            <a:endParaRPr lang="en-US" sz="1600" dirty="0"/>
          </a:p>
        </p:txBody>
      </p:sp>
      <p:sp>
        <p:nvSpPr>
          <p:cNvPr id="10" name="Text 7"/>
          <p:cNvSpPr/>
          <p:nvPr/>
        </p:nvSpPr>
        <p:spPr>
          <a:xfrm>
            <a:off x="7578328" y="5595342"/>
            <a:ext cx="6221968" cy="1005126"/>
          </a:xfrm>
          <a:prstGeom prst="rect">
            <a:avLst/>
          </a:prstGeom>
          <a:noFill/>
          <a:ln/>
        </p:spPr>
        <p:txBody>
          <a:bodyPr wrap="square" lIns="0" tIns="0" rIns="0" bIns="0" rtlCol="0" anchor="t"/>
          <a:lstStyle/>
          <a:p>
            <a:pPr marL="342900" indent="-342900" algn="l">
              <a:lnSpc>
                <a:spcPts val="2600"/>
              </a:lnSpc>
              <a:buSzPct val="100000"/>
              <a:buChar char="•"/>
            </a:pPr>
            <a:r>
              <a:rPr lang="en-US" sz="1600" b="1" dirty="0">
                <a:solidFill>
                  <a:srgbClr val="3A3630"/>
                </a:solidFill>
                <a:latin typeface="Source Sans 3" pitchFamily="34" charset="0"/>
                <a:ea typeface="Source Sans 3" pitchFamily="34" charset="-122"/>
                <a:cs typeface="Source Sans 3" pitchFamily="34" charset="-120"/>
              </a:rPr>
              <a:t>Returns Prediction &amp; Confidence:</a:t>
            </a:r>
            <a:r>
              <a:rPr lang="en-US" sz="1600" dirty="0">
                <a:solidFill>
                  <a:srgbClr val="3A3630"/>
                </a:solidFill>
                <a:latin typeface="Source Sans 3" pitchFamily="34" charset="0"/>
                <a:ea typeface="Source Sans 3" pitchFamily="34" charset="-122"/>
                <a:cs typeface="Source Sans 3" pitchFamily="34" charset="-120"/>
              </a:rPr>
              <a:t> The API responds with the model's classification (fake/real) and a confidence score, providing transparency into the prediction.</a:t>
            </a:r>
            <a:endParaRPr lang="en-US" sz="1600" dirty="0"/>
          </a:p>
        </p:txBody>
      </p:sp>
      <p:sp>
        <p:nvSpPr>
          <p:cNvPr id="11" name="Text 8"/>
          <p:cNvSpPr/>
          <p:nvPr/>
        </p:nvSpPr>
        <p:spPr>
          <a:xfrm>
            <a:off x="837724" y="7317581"/>
            <a:ext cx="12954952" cy="335042"/>
          </a:xfrm>
          <a:prstGeom prst="rect">
            <a:avLst/>
          </a:prstGeom>
          <a:noFill/>
          <a:ln/>
        </p:spPr>
        <p:txBody>
          <a:bodyPr wrap="none" lIns="0" tIns="0" rIns="0" bIns="0" rtlCol="0" anchor="t"/>
          <a:lstStyle/>
          <a:p>
            <a:pPr marL="0" indent="0" algn="l">
              <a:lnSpc>
                <a:spcPts val="2600"/>
              </a:lnSpc>
              <a:buNone/>
            </a:pPr>
            <a:r>
              <a:rPr lang="en-US" sz="1600" dirty="0">
                <a:solidFill>
                  <a:srgbClr val="3A3630"/>
                </a:solidFill>
                <a:latin typeface="Source Sans 3" pitchFamily="34" charset="0"/>
                <a:ea typeface="Source Sans 3" pitchFamily="34" charset="-122"/>
                <a:cs typeface="Source Sans 3" pitchFamily="34" charset="-120"/>
              </a:rPr>
              <a:t>This endpoint is the heart of our application, providing a seamless and robust mechanism for real-time fake job post detection.</a:t>
            </a:r>
            <a:endParaRPr lang="en-US" sz="1600" dirty="0"/>
          </a:p>
        </p:txBody>
      </p:sp>
      <p:pic>
        <p:nvPicPr>
          <p:cNvPr id="13" name="Picture 12">
            <a:extLst>
              <a:ext uri="{FF2B5EF4-FFF2-40B4-BE49-F238E27FC236}">
                <a16:creationId xmlns:a16="http://schemas.microsoft.com/office/drawing/2014/main" id="{5214BD34-DD96-93CB-2EF6-1F4AC823BFD8}"/>
              </a:ext>
            </a:extLst>
          </p:cNvPr>
          <p:cNvPicPr>
            <a:picLocks noChangeAspect="1"/>
          </p:cNvPicPr>
          <p:nvPr/>
        </p:nvPicPr>
        <p:blipFill>
          <a:blip r:embed="rId4"/>
          <a:stretch>
            <a:fillRect/>
          </a:stretch>
        </p:blipFill>
        <p:spPr>
          <a:xfrm>
            <a:off x="11701266" y="7652623"/>
            <a:ext cx="2810267" cy="48584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37724" y="922615"/>
            <a:ext cx="9546193" cy="615910"/>
          </a:xfrm>
          <a:prstGeom prst="rect">
            <a:avLst/>
          </a:prstGeom>
          <a:noFill/>
          <a:ln/>
        </p:spPr>
        <p:txBody>
          <a:bodyPr wrap="none" lIns="0" tIns="0" rIns="0" bIns="0" rtlCol="0" anchor="t"/>
          <a:lstStyle/>
          <a:p>
            <a:pPr marL="0" indent="0" algn="l">
              <a:lnSpc>
                <a:spcPts val="4850"/>
              </a:lnSpc>
              <a:buNone/>
            </a:pPr>
            <a:r>
              <a:rPr lang="en-US" sz="3850" dirty="0">
                <a:solidFill>
                  <a:srgbClr val="38512F"/>
                </a:solidFill>
                <a:latin typeface="Lora" pitchFamily="34" charset="0"/>
                <a:ea typeface="Lora" pitchFamily="34" charset="-122"/>
                <a:cs typeface="Lora" pitchFamily="34" charset="-120"/>
              </a:rPr>
              <a:t>Model Integration: Seamless &amp; Consistent</a:t>
            </a:r>
            <a:endParaRPr lang="en-US" sz="3850" dirty="0"/>
          </a:p>
        </p:txBody>
      </p:sp>
      <p:pic>
        <p:nvPicPr>
          <p:cNvPr id="3" name="Image 0" descr="preencoded.png"/>
          <p:cNvPicPr>
            <a:picLocks noChangeAspect="1"/>
          </p:cNvPicPr>
          <p:nvPr/>
        </p:nvPicPr>
        <p:blipFill>
          <a:blip r:embed="rId3"/>
          <a:stretch>
            <a:fillRect/>
          </a:stretch>
        </p:blipFill>
        <p:spPr>
          <a:xfrm>
            <a:off x="837724" y="1957388"/>
            <a:ext cx="4318278" cy="837724"/>
          </a:xfrm>
          <a:prstGeom prst="rect">
            <a:avLst/>
          </a:prstGeom>
        </p:spPr>
      </p:pic>
      <p:sp>
        <p:nvSpPr>
          <p:cNvPr id="4" name="Text 1"/>
          <p:cNvSpPr/>
          <p:nvPr/>
        </p:nvSpPr>
        <p:spPr>
          <a:xfrm>
            <a:off x="1047155" y="3004542"/>
            <a:ext cx="2464118" cy="308015"/>
          </a:xfrm>
          <a:prstGeom prst="rect">
            <a:avLst/>
          </a:prstGeom>
          <a:noFill/>
          <a:ln/>
        </p:spPr>
        <p:txBody>
          <a:bodyPr wrap="none" lIns="0" tIns="0" rIns="0" bIns="0" rtlCol="0" anchor="t"/>
          <a:lstStyle/>
          <a:p>
            <a:pPr marL="0" indent="0" algn="l">
              <a:lnSpc>
                <a:spcPts val="2400"/>
              </a:lnSpc>
              <a:buNone/>
            </a:pPr>
            <a:r>
              <a:rPr lang="en-US" sz="1900" dirty="0">
                <a:solidFill>
                  <a:srgbClr val="3A3630"/>
                </a:solidFill>
                <a:latin typeface="Lora" pitchFamily="34" charset="0"/>
                <a:ea typeface="Lora" pitchFamily="34" charset="-122"/>
                <a:cs typeface="Lora" pitchFamily="34" charset="-120"/>
              </a:rPr>
              <a:t>Raw Job Description</a:t>
            </a:r>
            <a:endParaRPr lang="en-US" sz="1900" dirty="0"/>
          </a:p>
        </p:txBody>
      </p:sp>
      <p:sp>
        <p:nvSpPr>
          <p:cNvPr id="5" name="Text 2"/>
          <p:cNvSpPr/>
          <p:nvPr/>
        </p:nvSpPr>
        <p:spPr>
          <a:xfrm>
            <a:off x="1047155" y="3438168"/>
            <a:ext cx="3899416" cy="670084"/>
          </a:xfrm>
          <a:prstGeom prst="rect">
            <a:avLst/>
          </a:prstGeom>
          <a:noFill/>
          <a:ln/>
        </p:spPr>
        <p:txBody>
          <a:bodyPr wrap="square" lIns="0" tIns="0" rIns="0" bIns="0" rtlCol="0" anchor="t"/>
          <a:lstStyle/>
          <a:p>
            <a:pPr marL="0" indent="0" algn="l">
              <a:lnSpc>
                <a:spcPts val="2600"/>
              </a:lnSpc>
              <a:buNone/>
            </a:pPr>
            <a:r>
              <a:rPr lang="en-US" sz="1600" dirty="0">
                <a:solidFill>
                  <a:srgbClr val="3A3630"/>
                </a:solidFill>
                <a:latin typeface="Source Sans 3" pitchFamily="34" charset="0"/>
                <a:ea typeface="Source Sans 3" pitchFamily="34" charset="-122"/>
                <a:cs typeface="Source Sans 3" pitchFamily="34" charset="-120"/>
              </a:rPr>
              <a:t>The original, unprocessed text input from the user.</a:t>
            </a:r>
            <a:endParaRPr lang="en-US" sz="1600" dirty="0"/>
          </a:p>
        </p:txBody>
      </p:sp>
      <p:pic>
        <p:nvPicPr>
          <p:cNvPr id="6" name="Image 1" descr="preencoded.png"/>
          <p:cNvPicPr>
            <a:picLocks noChangeAspect="1"/>
          </p:cNvPicPr>
          <p:nvPr/>
        </p:nvPicPr>
        <p:blipFill>
          <a:blip r:embed="rId4"/>
          <a:stretch>
            <a:fillRect/>
          </a:stretch>
        </p:blipFill>
        <p:spPr>
          <a:xfrm>
            <a:off x="5156002" y="1957388"/>
            <a:ext cx="4318278" cy="837724"/>
          </a:xfrm>
          <a:prstGeom prst="rect">
            <a:avLst/>
          </a:prstGeom>
        </p:spPr>
      </p:pic>
      <p:sp>
        <p:nvSpPr>
          <p:cNvPr id="7" name="Text 3"/>
          <p:cNvSpPr/>
          <p:nvPr/>
        </p:nvSpPr>
        <p:spPr>
          <a:xfrm>
            <a:off x="5365433" y="3004542"/>
            <a:ext cx="2464118" cy="308015"/>
          </a:xfrm>
          <a:prstGeom prst="rect">
            <a:avLst/>
          </a:prstGeom>
          <a:noFill/>
          <a:ln/>
        </p:spPr>
        <p:txBody>
          <a:bodyPr wrap="none" lIns="0" tIns="0" rIns="0" bIns="0" rtlCol="0" anchor="t"/>
          <a:lstStyle/>
          <a:p>
            <a:pPr marL="0" indent="0" algn="l">
              <a:lnSpc>
                <a:spcPts val="2400"/>
              </a:lnSpc>
              <a:buNone/>
            </a:pPr>
            <a:r>
              <a:rPr lang="en-US" sz="1900" dirty="0">
                <a:solidFill>
                  <a:srgbClr val="3A3630"/>
                </a:solidFill>
                <a:latin typeface="Lora" pitchFamily="34" charset="0"/>
                <a:ea typeface="Lora" pitchFamily="34" charset="-122"/>
                <a:cs typeface="Lora" pitchFamily="34" charset="-120"/>
              </a:rPr>
              <a:t>TF-IDF Vectorization</a:t>
            </a:r>
            <a:endParaRPr lang="en-US" sz="1900" dirty="0"/>
          </a:p>
        </p:txBody>
      </p:sp>
      <p:sp>
        <p:nvSpPr>
          <p:cNvPr id="8" name="Text 4"/>
          <p:cNvSpPr/>
          <p:nvPr/>
        </p:nvSpPr>
        <p:spPr>
          <a:xfrm>
            <a:off x="5365433" y="3438168"/>
            <a:ext cx="3899416" cy="1005126"/>
          </a:xfrm>
          <a:prstGeom prst="rect">
            <a:avLst/>
          </a:prstGeom>
          <a:noFill/>
          <a:ln/>
        </p:spPr>
        <p:txBody>
          <a:bodyPr wrap="square" lIns="0" tIns="0" rIns="0" bIns="0" rtlCol="0" anchor="t"/>
          <a:lstStyle/>
          <a:p>
            <a:pPr marL="0" indent="0" algn="l">
              <a:lnSpc>
                <a:spcPts val="2600"/>
              </a:lnSpc>
              <a:buNone/>
            </a:pPr>
            <a:r>
              <a:rPr lang="en-US" sz="1600" dirty="0">
                <a:solidFill>
                  <a:srgbClr val="3A3630"/>
                </a:solidFill>
                <a:latin typeface="Source Sans 3" pitchFamily="34" charset="0"/>
                <a:ea typeface="Source Sans 3" pitchFamily="34" charset="-122"/>
                <a:cs typeface="Source Sans 3" pitchFamily="34" charset="-120"/>
              </a:rPr>
              <a:t>Transforms text into numerical feature vectors, capturing word importance within and across documents.</a:t>
            </a:r>
            <a:endParaRPr lang="en-US" sz="1600" dirty="0"/>
          </a:p>
        </p:txBody>
      </p:sp>
      <p:pic>
        <p:nvPicPr>
          <p:cNvPr id="9" name="Image 2" descr="preencoded.png"/>
          <p:cNvPicPr>
            <a:picLocks noChangeAspect="1"/>
          </p:cNvPicPr>
          <p:nvPr/>
        </p:nvPicPr>
        <p:blipFill>
          <a:blip r:embed="rId5"/>
          <a:stretch>
            <a:fillRect/>
          </a:stretch>
        </p:blipFill>
        <p:spPr>
          <a:xfrm>
            <a:off x="9474279" y="1957388"/>
            <a:ext cx="4318278" cy="837724"/>
          </a:xfrm>
          <a:prstGeom prst="rect">
            <a:avLst/>
          </a:prstGeom>
        </p:spPr>
      </p:pic>
      <p:sp>
        <p:nvSpPr>
          <p:cNvPr id="10" name="Text 5"/>
          <p:cNvSpPr/>
          <p:nvPr/>
        </p:nvSpPr>
        <p:spPr>
          <a:xfrm>
            <a:off x="9683710" y="3004542"/>
            <a:ext cx="2464118" cy="308015"/>
          </a:xfrm>
          <a:prstGeom prst="rect">
            <a:avLst/>
          </a:prstGeom>
          <a:noFill/>
          <a:ln/>
        </p:spPr>
        <p:txBody>
          <a:bodyPr wrap="none" lIns="0" tIns="0" rIns="0" bIns="0" rtlCol="0" anchor="t"/>
          <a:lstStyle/>
          <a:p>
            <a:pPr marL="0" indent="0" algn="l">
              <a:lnSpc>
                <a:spcPts val="2400"/>
              </a:lnSpc>
              <a:buNone/>
            </a:pPr>
            <a:r>
              <a:rPr lang="en-US" sz="1900" dirty="0">
                <a:solidFill>
                  <a:srgbClr val="3A3630"/>
                </a:solidFill>
                <a:latin typeface="Lora" pitchFamily="34" charset="0"/>
                <a:ea typeface="Lora" pitchFamily="34" charset="-122"/>
                <a:cs typeface="Lora" pitchFamily="34" charset="-120"/>
              </a:rPr>
              <a:t>Logistic Regression</a:t>
            </a:r>
            <a:endParaRPr lang="en-US" sz="1900" dirty="0"/>
          </a:p>
        </p:txBody>
      </p:sp>
      <p:sp>
        <p:nvSpPr>
          <p:cNvPr id="11" name="Text 6"/>
          <p:cNvSpPr/>
          <p:nvPr/>
        </p:nvSpPr>
        <p:spPr>
          <a:xfrm>
            <a:off x="9683710" y="3438168"/>
            <a:ext cx="3899416" cy="1005126"/>
          </a:xfrm>
          <a:prstGeom prst="rect">
            <a:avLst/>
          </a:prstGeom>
          <a:noFill/>
          <a:ln/>
        </p:spPr>
        <p:txBody>
          <a:bodyPr wrap="square" lIns="0" tIns="0" rIns="0" bIns="0" rtlCol="0" anchor="t"/>
          <a:lstStyle/>
          <a:p>
            <a:pPr marL="0" indent="0" algn="l">
              <a:lnSpc>
                <a:spcPts val="2600"/>
              </a:lnSpc>
              <a:buNone/>
            </a:pPr>
            <a:r>
              <a:rPr lang="en-US" sz="1600" dirty="0">
                <a:solidFill>
                  <a:srgbClr val="3A3630"/>
                </a:solidFill>
                <a:latin typeface="Source Sans 3" pitchFamily="34" charset="0"/>
                <a:ea typeface="Source Sans 3" pitchFamily="34" charset="-122"/>
                <a:cs typeface="Source Sans 3" pitchFamily="34" charset="-120"/>
              </a:rPr>
              <a:t>The classification algorithm that analyzes the feature vectors to predict job post authenticity.</a:t>
            </a:r>
            <a:endParaRPr lang="en-US" sz="1600" dirty="0"/>
          </a:p>
        </p:txBody>
      </p:sp>
      <p:sp>
        <p:nvSpPr>
          <p:cNvPr id="12" name="Shape 7"/>
          <p:cNvSpPr/>
          <p:nvPr/>
        </p:nvSpPr>
        <p:spPr>
          <a:xfrm>
            <a:off x="837724" y="4888349"/>
            <a:ext cx="12954952" cy="2418517"/>
          </a:xfrm>
          <a:prstGeom prst="roundRect">
            <a:avLst>
              <a:gd name="adj" fmla="val 1299"/>
            </a:avLst>
          </a:prstGeom>
          <a:solidFill>
            <a:srgbClr val="D4E3CF"/>
          </a:solidFill>
          <a:ln/>
        </p:spPr>
      </p:sp>
      <p:pic>
        <p:nvPicPr>
          <p:cNvPr id="13" name="Image 3" descr="preencoded.png"/>
          <p:cNvPicPr>
            <a:picLocks noChangeAspect="1"/>
          </p:cNvPicPr>
          <p:nvPr/>
        </p:nvPicPr>
        <p:blipFill>
          <a:blip r:embed="rId6"/>
          <a:stretch>
            <a:fillRect/>
          </a:stretch>
        </p:blipFill>
        <p:spPr>
          <a:xfrm>
            <a:off x="1047155" y="5195292"/>
            <a:ext cx="261818" cy="209431"/>
          </a:xfrm>
          <a:prstGeom prst="rect">
            <a:avLst/>
          </a:prstGeom>
        </p:spPr>
      </p:pic>
      <p:sp>
        <p:nvSpPr>
          <p:cNvPr id="14" name="Text 8"/>
          <p:cNvSpPr/>
          <p:nvPr/>
        </p:nvSpPr>
        <p:spPr>
          <a:xfrm>
            <a:off x="1518404" y="5150048"/>
            <a:ext cx="12064841" cy="1005126"/>
          </a:xfrm>
          <a:prstGeom prst="rect">
            <a:avLst/>
          </a:prstGeom>
          <a:noFill/>
          <a:ln/>
        </p:spPr>
        <p:txBody>
          <a:bodyPr wrap="square" lIns="0" tIns="0" rIns="0" bIns="0" rtlCol="0" anchor="t"/>
          <a:lstStyle/>
          <a:p>
            <a:pPr marL="0" indent="0" algn="l">
              <a:lnSpc>
                <a:spcPts val="2600"/>
              </a:lnSpc>
              <a:buNone/>
            </a:pPr>
            <a:r>
              <a:rPr lang="en-US" sz="1600" b="1" dirty="0">
                <a:solidFill>
                  <a:srgbClr val="000000"/>
                </a:solidFill>
                <a:latin typeface="Source Sans 3" pitchFamily="34" charset="0"/>
                <a:ea typeface="Source Sans 3" pitchFamily="34" charset="-122"/>
                <a:cs typeface="Source Sans 3" pitchFamily="34" charset="-120"/>
              </a:rPr>
              <a:t>No Manual Preprocessing in Backend:</a:t>
            </a:r>
            <a:r>
              <a:rPr lang="en-US" sz="1600" dirty="0">
                <a:solidFill>
                  <a:srgbClr val="000000"/>
                </a:solidFill>
                <a:latin typeface="Source Sans 3" pitchFamily="34" charset="0"/>
                <a:ea typeface="Source Sans 3" pitchFamily="34" charset="-122"/>
                <a:cs typeface="Source Sans 3" pitchFamily="34" charset="-120"/>
              </a:rPr>
              <a:t> Crucially, the entire preprocessing chain (TF-IDF vectorizer) is part of the saved model pipeline. This eliminates the need for separate preprocessing steps in the backend, greatly simplifying deployment and ensuring consistency. The raw text goes directly into the pipeline.</a:t>
            </a:r>
            <a:endParaRPr lang="en-US" sz="1600" dirty="0"/>
          </a:p>
        </p:txBody>
      </p:sp>
      <p:sp>
        <p:nvSpPr>
          <p:cNvPr id="15" name="Text 9"/>
          <p:cNvSpPr/>
          <p:nvPr/>
        </p:nvSpPr>
        <p:spPr>
          <a:xfrm>
            <a:off x="1518404" y="6343650"/>
            <a:ext cx="12064841" cy="670084"/>
          </a:xfrm>
          <a:prstGeom prst="rect">
            <a:avLst/>
          </a:prstGeom>
          <a:noFill/>
          <a:ln/>
        </p:spPr>
        <p:txBody>
          <a:bodyPr wrap="square" lIns="0" tIns="0" rIns="0" bIns="0" rtlCol="0" anchor="t"/>
          <a:lstStyle/>
          <a:p>
            <a:pPr marL="0" indent="0" algn="l">
              <a:lnSpc>
                <a:spcPts val="2600"/>
              </a:lnSpc>
              <a:buNone/>
            </a:pPr>
            <a:r>
              <a:rPr lang="en-US" sz="1600" b="1" dirty="0">
                <a:solidFill>
                  <a:srgbClr val="000000"/>
                </a:solidFill>
                <a:latin typeface="Source Sans 3" pitchFamily="34" charset="0"/>
                <a:ea typeface="Source Sans 3" pitchFamily="34" charset="-122"/>
                <a:cs typeface="Source Sans 3" pitchFamily="34" charset="-120"/>
              </a:rPr>
              <a:t>Ensures Consistency:</a:t>
            </a:r>
            <a:r>
              <a:rPr lang="en-US" sz="1600" dirty="0">
                <a:solidFill>
                  <a:srgbClr val="000000"/>
                </a:solidFill>
                <a:latin typeface="Source Sans 3" pitchFamily="34" charset="0"/>
                <a:ea typeface="Source Sans 3" pitchFamily="34" charset="-122"/>
                <a:cs typeface="Source Sans 3" pitchFamily="34" charset="-120"/>
              </a:rPr>
              <a:t> By integrating TF-IDF directly into the pipeline, we guarantee that the text transformation applied during inference is identical to that used during training, preventing discrepancies and ensuring reliable predictions.</a:t>
            </a:r>
            <a:endParaRPr lang="en-US" sz="1600" dirty="0"/>
          </a:p>
        </p:txBody>
      </p:sp>
      <p:pic>
        <p:nvPicPr>
          <p:cNvPr id="17" name="Picture 16">
            <a:extLst>
              <a:ext uri="{FF2B5EF4-FFF2-40B4-BE49-F238E27FC236}">
                <a16:creationId xmlns:a16="http://schemas.microsoft.com/office/drawing/2014/main" id="{FACF253D-9D98-E4E5-EB8F-153017962F5F}"/>
              </a:ext>
            </a:extLst>
          </p:cNvPr>
          <p:cNvPicPr>
            <a:picLocks noChangeAspect="1"/>
          </p:cNvPicPr>
          <p:nvPr/>
        </p:nvPicPr>
        <p:blipFill>
          <a:blip r:embed="rId7"/>
          <a:stretch>
            <a:fillRect/>
          </a:stretch>
        </p:blipFill>
        <p:spPr>
          <a:xfrm>
            <a:off x="11762984" y="7724707"/>
            <a:ext cx="2810267" cy="48584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37724" y="1136452"/>
            <a:ext cx="11666696" cy="615910"/>
          </a:xfrm>
          <a:prstGeom prst="rect">
            <a:avLst/>
          </a:prstGeom>
          <a:noFill/>
          <a:ln/>
        </p:spPr>
        <p:txBody>
          <a:bodyPr wrap="none" lIns="0" tIns="0" rIns="0" bIns="0" rtlCol="0" anchor="t"/>
          <a:lstStyle/>
          <a:p>
            <a:pPr marL="0" indent="0" algn="l">
              <a:lnSpc>
                <a:spcPts val="4850"/>
              </a:lnSpc>
              <a:buNone/>
            </a:pPr>
            <a:r>
              <a:rPr lang="en-US" sz="3850" dirty="0">
                <a:solidFill>
                  <a:srgbClr val="38512F"/>
                </a:solidFill>
                <a:latin typeface="Lora" pitchFamily="34" charset="0"/>
                <a:ea typeface="Lora" pitchFamily="34" charset="-122"/>
                <a:cs typeface="Lora" pitchFamily="34" charset="-120"/>
              </a:rPr>
              <a:t>Frontend Implementation: Streamlit User Interface</a:t>
            </a:r>
            <a:endParaRPr lang="en-US" sz="3850" dirty="0"/>
          </a:p>
        </p:txBody>
      </p:sp>
      <p:sp>
        <p:nvSpPr>
          <p:cNvPr id="3" name="Shape 1"/>
          <p:cNvSpPr/>
          <p:nvPr/>
        </p:nvSpPr>
        <p:spPr>
          <a:xfrm>
            <a:off x="837724" y="2171224"/>
            <a:ext cx="4178618" cy="1903333"/>
          </a:xfrm>
          <a:prstGeom prst="roundRect">
            <a:avLst>
              <a:gd name="adj" fmla="val 5765"/>
            </a:avLst>
          </a:prstGeom>
          <a:solidFill>
            <a:srgbClr val="FEF5E7"/>
          </a:solidFill>
          <a:ln w="22860">
            <a:solidFill>
              <a:srgbClr val="D9CDBA"/>
            </a:solidFill>
            <a:prstDash val="solid"/>
          </a:ln>
        </p:spPr>
      </p:sp>
      <p:sp>
        <p:nvSpPr>
          <p:cNvPr id="4" name="Shape 2"/>
          <p:cNvSpPr/>
          <p:nvPr/>
        </p:nvSpPr>
        <p:spPr>
          <a:xfrm>
            <a:off x="814864" y="2171224"/>
            <a:ext cx="91440" cy="1903333"/>
          </a:xfrm>
          <a:prstGeom prst="roundRect">
            <a:avLst>
              <a:gd name="adj" fmla="val 34360"/>
            </a:avLst>
          </a:prstGeom>
          <a:solidFill>
            <a:srgbClr val="38512F"/>
          </a:solidFill>
          <a:ln/>
        </p:spPr>
      </p:sp>
      <p:sp>
        <p:nvSpPr>
          <p:cNvPr id="5" name="Text 3"/>
          <p:cNvSpPr/>
          <p:nvPr/>
        </p:nvSpPr>
        <p:spPr>
          <a:xfrm>
            <a:off x="1138595" y="2403515"/>
            <a:ext cx="3336488" cy="308015"/>
          </a:xfrm>
          <a:prstGeom prst="rect">
            <a:avLst/>
          </a:prstGeom>
          <a:noFill/>
          <a:ln/>
        </p:spPr>
        <p:txBody>
          <a:bodyPr wrap="none" lIns="0" tIns="0" rIns="0" bIns="0" rtlCol="0" anchor="t"/>
          <a:lstStyle/>
          <a:p>
            <a:pPr marL="0" indent="0" algn="l">
              <a:lnSpc>
                <a:spcPts val="2400"/>
              </a:lnSpc>
              <a:buNone/>
            </a:pPr>
            <a:r>
              <a:rPr lang="en-US" sz="1900" dirty="0">
                <a:solidFill>
                  <a:srgbClr val="3A3630"/>
                </a:solidFill>
                <a:latin typeface="Lora" pitchFamily="34" charset="0"/>
                <a:ea typeface="Lora" pitchFamily="34" charset="-122"/>
                <a:cs typeface="Lora" pitchFamily="34" charset="-120"/>
              </a:rPr>
              <a:t>Text Area for Job Description</a:t>
            </a:r>
            <a:endParaRPr lang="en-US" sz="1900" dirty="0"/>
          </a:p>
        </p:txBody>
      </p:sp>
      <p:sp>
        <p:nvSpPr>
          <p:cNvPr id="6" name="Text 4"/>
          <p:cNvSpPr/>
          <p:nvPr/>
        </p:nvSpPr>
        <p:spPr>
          <a:xfrm>
            <a:off x="1138595" y="2837140"/>
            <a:ext cx="3645456" cy="1005126"/>
          </a:xfrm>
          <a:prstGeom prst="rect">
            <a:avLst/>
          </a:prstGeom>
          <a:noFill/>
          <a:ln/>
        </p:spPr>
        <p:txBody>
          <a:bodyPr wrap="square" lIns="0" tIns="0" rIns="0" bIns="0" rtlCol="0" anchor="t"/>
          <a:lstStyle/>
          <a:p>
            <a:pPr marL="0" indent="0" algn="l">
              <a:lnSpc>
                <a:spcPts val="2600"/>
              </a:lnSpc>
              <a:buNone/>
            </a:pPr>
            <a:r>
              <a:rPr lang="en-US" sz="1600" dirty="0">
                <a:solidFill>
                  <a:srgbClr val="3A3630"/>
                </a:solidFill>
                <a:latin typeface="Source Sans 3" pitchFamily="34" charset="0"/>
                <a:ea typeface="Source Sans 3" pitchFamily="34" charset="-122"/>
                <a:cs typeface="Source Sans 3" pitchFamily="34" charset="-120"/>
              </a:rPr>
              <a:t>A prominent input field allows users to paste or type the job posting content they wish to analyze.</a:t>
            </a:r>
            <a:endParaRPr lang="en-US" sz="1600" dirty="0"/>
          </a:p>
        </p:txBody>
      </p:sp>
      <p:sp>
        <p:nvSpPr>
          <p:cNvPr id="7" name="Shape 5"/>
          <p:cNvSpPr/>
          <p:nvPr/>
        </p:nvSpPr>
        <p:spPr>
          <a:xfrm>
            <a:off x="5225772" y="2171224"/>
            <a:ext cx="4178737" cy="1903333"/>
          </a:xfrm>
          <a:prstGeom prst="roundRect">
            <a:avLst>
              <a:gd name="adj" fmla="val 5765"/>
            </a:avLst>
          </a:prstGeom>
          <a:solidFill>
            <a:srgbClr val="FEF5E7"/>
          </a:solidFill>
          <a:ln w="22860">
            <a:solidFill>
              <a:srgbClr val="D9CDBA"/>
            </a:solidFill>
            <a:prstDash val="solid"/>
          </a:ln>
        </p:spPr>
      </p:sp>
      <p:sp>
        <p:nvSpPr>
          <p:cNvPr id="8" name="Shape 6"/>
          <p:cNvSpPr/>
          <p:nvPr/>
        </p:nvSpPr>
        <p:spPr>
          <a:xfrm>
            <a:off x="5202912" y="2171224"/>
            <a:ext cx="91440" cy="1903333"/>
          </a:xfrm>
          <a:prstGeom prst="roundRect">
            <a:avLst>
              <a:gd name="adj" fmla="val 34360"/>
            </a:avLst>
          </a:prstGeom>
          <a:solidFill>
            <a:srgbClr val="38512F"/>
          </a:solidFill>
          <a:ln/>
        </p:spPr>
      </p:sp>
      <p:sp>
        <p:nvSpPr>
          <p:cNvPr id="9" name="Text 7"/>
          <p:cNvSpPr/>
          <p:nvPr/>
        </p:nvSpPr>
        <p:spPr>
          <a:xfrm>
            <a:off x="5526643" y="2403515"/>
            <a:ext cx="2464118" cy="308015"/>
          </a:xfrm>
          <a:prstGeom prst="rect">
            <a:avLst/>
          </a:prstGeom>
          <a:noFill/>
          <a:ln/>
        </p:spPr>
        <p:txBody>
          <a:bodyPr wrap="none" lIns="0" tIns="0" rIns="0" bIns="0" rtlCol="0" anchor="t"/>
          <a:lstStyle/>
          <a:p>
            <a:pPr marL="0" indent="0" algn="l">
              <a:lnSpc>
                <a:spcPts val="2400"/>
              </a:lnSpc>
              <a:buNone/>
            </a:pPr>
            <a:r>
              <a:rPr lang="en-US" sz="1900" dirty="0">
                <a:solidFill>
                  <a:srgbClr val="3A3630"/>
                </a:solidFill>
                <a:latin typeface="Lora" pitchFamily="34" charset="0"/>
                <a:ea typeface="Lora" pitchFamily="34" charset="-122"/>
                <a:cs typeface="Lora" pitchFamily="34" charset="-120"/>
              </a:rPr>
              <a:t>Predict Button</a:t>
            </a:r>
            <a:endParaRPr lang="en-US" sz="1900" dirty="0"/>
          </a:p>
        </p:txBody>
      </p:sp>
      <p:sp>
        <p:nvSpPr>
          <p:cNvPr id="10" name="Text 8"/>
          <p:cNvSpPr/>
          <p:nvPr/>
        </p:nvSpPr>
        <p:spPr>
          <a:xfrm>
            <a:off x="5526643" y="2837140"/>
            <a:ext cx="3645575" cy="670084"/>
          </a:xfrm>
          <a:prstGeom prst="rect">
            <a:avLst/>
          </a:prstGeom>
          <a:noFill/>
          <a:ln/>
        </p:spPr>
        <p:txBody>
          <a:bodyPr wrap="square" lIns="0" tIns="0" rIns="0" bIns="0" rtlCol="0" anchor="t"/>
          <a:lstStyle/>
          <a:p>
            <a:pPr marL="0" indent="0" algn="l">
              <a:lnSpc>
                <a:spcPts val="2600"/>
              </a:lnSpc>
              <a:buNone/>
            </a:pPr>
            <a:r>
              <a:rPr lang="en-US" sz="1600" dirty="0">
                <a:solidFill>
                  <a:srgbClr val="3A3630"/>
                </a:solidFill>
                <a:latin typeface="Source Sans 3" pitchFamily="34" charset="0"/>
                <a:ea typeface="Source Sans 3" pitchFamily="34" charset="-122"/>
                <a:cs typeface="Source Sans 3" pitchFamily="34" charset="-120"/>
              </a:rPr>
              <a:t>Initiates the prediction process, sending the input text to the FastAPI backend.</a:t>
            </a:r>
            <a:endParaRPr lang="en-US" sz="1600" dirty="0"/>
          </a:p>
        </p:txBody>
      </p:sp>
      <p:sp>
        <p:nvSpPr>
          <p:cNvPr id="11" name="Shape 9"/>
          <p:cNvSpPr/>
          <p:nvPr/>
        </p:nvSpPr>
        <p:spPr>
          <a:xfrm>
            <a:off x="9613940" y="2171224"/>
            <a:ext cx="4178737" cy="1903333"/>
          </a:xfrm>
          <a:prstGeom prst="roundRect">
            <a:avLst>
              <a:gd name="adj" fmla="val 5765"/>
            </a:avLst>
          </a:prstGeom>
          <a:solidFill>
            <a:srgbClr val="FEF5E7"/>
          </a:solidFill>
          <a:ln w="22860">
            <a:solidFill>
              <a:srgbClr val="D9CDBA"/>
            </a:solidFill>
            <a:prstDash val="solid"/>
          </a:ln>
        </p:spPr>
      </p:sp>
      <p:sp>
        <p:nvSpPr>
          <p:cNvPr id="12" name="Shape 10"/>
          <p:cNvSpPr/>
          <p:nvPr/>
        </p:nvSpPr>
        <p:spPr>
          <a:xfrm>
            <a:off x="9591080" y="2171224"/>
            <a:ext cx="91440" cy="1903333"/>
          </a:xfrm>
          <a:prstGeom prst="roundRect">
            <a:avLst>
              <a:gd name="adj" fmla="val 34360"/>
            </a:avLst>
          </a:prstGeom>
          <a:solidFill>
            <a:srgbClr val="38512F"/>
          </a:solidFill>
          <a:ln/>
        </p:spPr>
      </p:sp>
      <p:sp>
        <p:nvSpPr>
          <p:cNvPr id="13" name="Text 11"/>
          <p:cNvSpPr/>
          <p:nvPr/>
        </p:nvSpPr>
        <p:spPr>
          <a:xfrm>
            <a:off x="9914811" y="2403515"/>
            <a:ext cx="2464118" cy="308015"/>
          </a:xfrm>
          <a:prstGeom prst="rect">
            <a:avLst/>
          </a:prstGeom>
          <a:noFill/>
          <a:ln/>
        </p:spPr>
        <p:txBody>
          <a:bodyPr wrap="none" lIns="0" tIns="0" rIns="0" bIns="0" rtlCol="0" anchor="t"/>
          <a:lstStyle/>
          <a:p>
            <a:pPr marL="0" indent="0" algn="l">
              <a:lnSpc>
                <a:spcPts val="2400"/>
              </a:lnSpc>
              <a:buNone/>
            </a:pPr>
            <a:r>
              <a:rPr lang="en-US" sz="1900" dirty="0">
                <a:solidFill>
                  <a:srgbClr val="3A3630"/>
                </a:solidFill>
                <a:latin typeface="Lora" pitchFamily="34" charset="0"/>
                <a:ea typeface="Lora" pitchFamily="34" charset="-122"/>
                <a:cs typeface="Lora" pitchFamily="34" charset="-120"/>
              </a:rPr>
              <a:t>Clear Button</a:t>
            </a:r>
            <a:endParaRPr lang="en-US" sz="1900" dirty="0"/>
          </a:p>
        </p:txBody>
      </p:sp>
      <p:sp>
        <p:nvSpPr>
          <p:cNvPr id="14" name="Text 12"/>
          <p:cNvSpPr/>
          <p:nvPr/>
        </p:nvSpPr>
        <p:spPr>
          <a:xfrm>
            <a:off x="9914811" y="2837140"/>
            <a:ext cx="3645575" cy="670084"/>
          </a:xfrm>
          <a:prstGeom prst="rect">
            <a:avLst/>
          </a:prstGeom>
          <a:noFill/>
          <a:ln/>
        </p:spPr>
        <p:txBody>
          <a:bodyPr wrap="square" lIns="0" tIns="0" rIns="0" bIns="0" rtlCol="0" anchor="t"/>
          <a:lstStyle/>
          <a:p>
            <a:pPr marL="0" indent="0" algn="l">
              <a:lnSpc>
                <a:spcPts val="2600"/>
              </a:lnSpc>
              <a:buNone/>
            </a:pPr>
            <a:r>
              <a:rPr lang="en-US" sz="1600" dirty="0">
                <a:solidFill>
                  <a:srgbClr val="3A3630"/>
                </a:solidFill>
                <a:latin typeface="Source Sans 3" pitchFamily="34" charset="0"/>
                <a:ea typeface="Source Sans 3" pitchFamily="34" charset="-122"/>
                <a:cs typeface="Source Sans 3" pitchFamily="34" charset="-120"/>
              </a:rPr>
              <a:t>Resets the text area and prediction results, allowing for easy new analyses.</a:t>
            </a:r>
            <a:endParaRPr lang="en-US" sz="1600" dirty="0"/>
          </a:p>
        </p:txBody>
      </p:sp>
      <p:sp>
        <p:nvSpPr>
          <p:cNvPr id="15" name="Shape 13"/>
          <p:cNvSpPr/>
          <p:nvPr/>
        </p:nvSpPr>
        <p:spPr>
          <a:xfrm>
            <a:off x="837724" y="4283988"/>
            <a:ext cx="4178618" cy="2238375"/>
          </a:xfrm>
          <a:prstGeom prst="roundRect">
            <a:avLst>
              <a:gd name="adj" fmla="val 4902"/>
            </a:avLst>
          </a:prstGeom>
          <a:solidFill>
            <a:srgbClr val="FEF5E7"/>
          </a:solidFill>
          <a:ln w="22860">
            <a:solidFill>
              <a:srgbClr val="D9CDBA"/>
            </a:solidFill>
            <a:prstDash val="solid"/>
          </a:ln>
        </p:spPr>
      </p:sp>
      <p:sp>
        <p:nvSpPr>
          <p:cNvPr id="16" name="Shape 14"/>
          <p:cNvSpPr/>
          <p:nvPr/>
        </p:nvSpPr>
        <p:spPr>
          <a:xfrm>
            <a:off x="814864" y="4283988"/>
            <a:ext cx="91440" cy="2238375"/>
          </a:xfrm>
          <a:prstGeom prst="roundRect">
            <a:avLst>
              <a:gd name="adj" fmla="val 34360"/>
            </a:avLst>
          </a:prstGeom>
          <a:solidFill>
            <a:srgbClr val="38512F"/>
          </a:solidFill>
          <a:ln/>
        </p:spPr>
      </p:sp>
      <p:sp>
        <p:nvSpPr>
          <p:cNvPr id="17" name="Text 15"/>
          <p:cNvSpPr/>
          <p:nvPr/>
        </p:nvSpPr>
        <p:spPr>
          <a:xfrm>
            <a:off x="1138595" y="4516279"/>
            <a:ext cx="3344823" cy="308015"/>
          </a:xfrm>
          <a:prstGeom prst="rect">
            <a:avLst/>
          </a:prstGeom>
          <a:noFill/>
          <a:ln/>
        </p:spPr>
        <p:txBody>
          <a:bodyPr wrap="none" lIns="0" tIns="0" rIns="0" bIns="0" rtlCol="0" anchor="t"/>
          <a:lstStyle/>
          <a:p>
            <a:pPr marL="0" indent="0" algn="l">
              <a:lnSpc>
                <a:spcPts val="2400"/>
              </a:lnSpc>
              <a:buNone/>
            </a:pPr>
            <a:r>
              <a:rPr lang="en-US" sz="1900" dirty="0">
                <a:solidFill>
                  <a:srgbClr val="3A3630"/>
                </a:solidFill>
                <a:latin typeface="Lora" pitchFamily="34" charset="0"/>
                <a:ea typeface="Lora" pitchFamily="34" charset="-122"/>
                <a:cs typeface="Lora" pitchFamily="34" charset="-120"/>
              </a:rPr>
              <a:t>Displays Result &amp; Confidence</a:t>
            </a:r>
            <a:endParaRPr lang="en-US" sz="1900" dirty="0"/>
          </a:p>
        </p:txBody>
      </p:sp>
      <p:sp>
        <p:nvSpPr>
          <p:cNvPr id="18" name="Text 16"/>
          <p:cNvSpPr/>
          <p:nvPr/>
        </p:nvSpPr>
        <p:spPr>
          <a:xfrm>
            <a:off x="1138595" y="4949904"/>
            <a:ext cx="3645456" cy="1005126"/>
          </a:xfrm>
          <a:prstGeom prst="rect">
            <a:avLst/>
          </a:prstGeom>
          <a:noFill/>
          <a:ln/>
        </p:spPr>
        <p:txBody>
          <a:bodyPr wrap="square" lIns="0" tIns="0" rIns="0" bIns="0" rtlCol="0" anchor="t"/>
          <a:lstStyle/>
          <a:p>
            <a:pPr marL="0" indent="0" algn="l">
              <a:lnSpc>
                <a:spcPts val="2600"/>
              </a:lnSpc>
              <a:buNone/>
            </a:pPr>
            <a:r>
              <a:rPr lang="en-US" sz="1600" dirty="0">
                <a:solidFill>
                  <a:srgbClr val="3A3630"/>
                </a:solidFill>
                <a:latin typeface="Source Sans 3" pitchFamily="34" charset="0"/>
                <a:ea typeface="Source Sans 3" pitchFamily="34" charset="-122"/>
                <a:cs typeface="Source Sans 3" pitchFamily="34" charset="-120"/>
              </a:rPr>
              <a:t>Clearly presents the classification (e.g., "Legitimate" or "Potentially Fake") and the model's confidence score to the user.</a:t>
            </a:r>
            <a:endParaRPr lang="en-US" sz="1600" dirty="0"/>
          </a:p>
        </p:txBody>
      </p:sp>
      <p:sp>
        <p:nvSpPr>
          <p:cNvPr id="19" name="Shape 17"/>
          <p:cNvSpPr/>
          <p:nvPr/>
        </p:nvSpPr>
        <p:spPr>
          <a:xfrm>
            <a:off x="5225772" y="4283988"/>
            <a:ext cx="4178737" cy="2238375"/>
          </a:xfrm>
          <a:prstGeom prst="roundRect">
            <a:avLst>
              <a:gd name="adj" fmla="val 4902"/>
            </a:avLst>
          </a:prstGeom>
          <a:solidFill>
            <a:srgbClr val="FEF5E7"/>
          </a:solidFill>
          <a:ln w="22860">
            <a:solidFill>
              <a:srgbClr val="D9CDBA"/>
            </a:solidFill>
            <a:prstDash val="solid"/>
          </a:ln>
        </p:spPr>
      </p:sp>
      <p:sp>
        <p:nvSpPr>
          <p:cNvPr id="20" name="Shape 18"/>
          <p:cNvSpPr/>
          <p:nvPr/>
        </p:nvSpPr>
        <p:spPr>
          <a:xfrm>
            <a:off x="5202912" y="4283988"/>
            <a:ext cx="91440" cy="2238375"/>
          </a:xfrm>
          <a:prstGeom prst="roundRect">
            <a:avLst>
              <a:gd name="adj" fmla="val 34360"/>
            </a:avLst>
          </a:prstGeom>
          <a:solidFill>
            <a:srgbClr val="38512F"/>
          </a:solidFill>
          <a:ln/>
        </p:spPr>
      </p:sp>
      <p:sp>
        <p:nvSpPr>
          <p:cNvPr id="21" name="Text 19"/>
          <p:cNvSpPr/>
          <p:nvPr/>
        </p:nvSpPr>
        <p:spPr>
          <a:xfrm>
            <a:off x="5526643" y="4516279"/>
            <a:ext cx="2682002" cy="308015"/>
          </a:xfrm>
          <a:prstGeom prst="rect">
            <a:avLst/>
          </a:prstGeom>
          <a:noFill/>
          <a:ln/>
        </p:spPr>
        <p:txBody>
          <a:bodyPr wrap="none" lIns="0" tIns="0" rIns="0" bIns="0" rtlCol="0" anchor="t"/>
          <a:lstStyle/>
          <a:p>
            <a:pPr marL="0" indent="0" algn="l">
              <a:lnSpc>
                <a:spcPts val="2400"/>
              </a:lnSpc>
              <a:buNone/>
            </a:pPr>
            <a:r>
              <a:rPr lang="en-US" sz="1900" dirty="0">
                <a:solidFill>
                  <a:srgbClr val="3A3630"/>
                </a:solidFill>
                <a:latin typeface="Lora" pitchFamily="34" charset="0"/>
                <a:ea typeface="Lora" pitchFamily="34" charset="-122"/>
                <a:cs typeface="Lora" pitchFamily="34" charset="-120"/>
              </a:rPr>
              <a:t>Loading Spinner for UX</a:t>
            </a:r>
            <a:endParaRPr lang="en-US" sz="1900" dirty="0"/>
          </a:p>
        </p:txBody>
      </p:sp>
      <p:sp>
        <p:nvSpPr>
          <p:cNvPr id="22" name="Text 20"/>
          <p:cNvSpPr/>
          <p:nvPr/>
        </p:nvSpPr>
        <p:spPr>
          <a:xfrm>
            <a:off x="5526643" y="4949904"/>
            <a:ext cx="3645575" cy="1340168"/>
          </a:xfrm>
          <a:prstGeom prst="rect">
            <a:avLst/>
          </a:prstGeom>
          <a:noFill/>
          <a:ln/>
        </p:spPr>
        <p:txBody>
          <a:bodyPr wrap="square" lIns="0" tIns="0" rIns="0" bIns="0" rtlCol="0" anchor="t"/>
          <a:lstStyle/>
          <a:p>
            <a:pPr marL="0" indent="0" algn="l">
              <a:lnSpc>
                <a:spcPts val="2600"/>
              </a:lnSpc>
              <a:buNone/>
            </a:pPr>
            <a:r>
              <a:rPr lang="en-US" sz="1600" dirty="0">
                <a:solidFill>
                  <a:srgbClr val="3A3630"/>
                </a:solidFill>
                <a:latin typeface="Source Sans 3" pitchFamily="34" charset="0"/>
                <a:ea typeface="Source Sans 3" pitchFamily="34" charset="-122"/>
                <a:cs typeface="Source Sans 3" pitchFamily="34" charset="-120"/>
              </a:rPr>
              <a:t>Provides visual feedback during the prediction process, enhancing user experience by indicating active computation.</a:t>
            </a:r>
            <a:endParaRPr lang="en-US" sz="1600" dirty="0"/>
          </a:p>
        </p:txBody>
      </p:sp>
      <p:sp>
        <p:nvSpPr>
          <p:cNvPr id="23" name="Text 21"/>
          <p:cNvSpPr/>
          <p:nvPr/>
        </p:nvSpPr>
        <p:spPr>
          <a:xfrm>
            <a:off x="837724" y="6757988"/>
            <a:ext cx="12954952" cy="335042"/>
          </a:xfrm>
          <a:prstGeom prst="rect">
            <a:avLst/>
          </a:prstGeom>
          <a:noFill/>
          <a:ln/>
        </p:spPr>
        <p:txBody>
          <a:bodyPr wrap="none" lIns="0" tIns="0" rIns="0" bIns="0" rtlCol="0" anchor="t"/>
          <a:lstStyle/>
          <a:p>
            <a:pPr marL="0" indent="0" algn="l">
              <a:lnSpc>
                <a:spcPts val="2600"/>
              </a:lnSpc>
              <a:buNone/>
            </a:pPr>
            <a:r>
              <a:rPr lang="en-US" sz="1600" dirty="0">
                <a:solidFill>
                  <a:srgbClr val="3A3630"/>
                </a:solidFill>
                <a:latin typeface="Source Sans 3" pitchFamily="34" charset="0"/>
                <a:ea typeface="Source Sans 3" pitchFamily="34" charset="-122"/>
                <a:cs typeface="Source Sans 3" pitchFamily="34" charset="-120"/>
              </a:rPr>
              <a:t>Streamlit's simplicity allowed for rapid development of an effective and interactive frontend, making our NLP model accessible to end-users.</a:t>
            </a:r>
            <a:endParaRPr lang="en-US" sz="1600" dirty="0"/>
          </a:p>
        </p:txBody>
      </p:sp>
      <p:pic>
        <p:nvPicPr>
          <p:cNvPr id="25" name="Picture 24">
            <a:extLst>
              <a:ext uri="{FF2B5EF4-FFF2-40B4-BE49-F238E27FC236}">
                <a16:creationId xmlns:a16="http://schemas.microsoft.com/office/drawing/2014/main" id="{057281DC-A134-B781-5B27-D602541A04EC}"/>
              </a:ext>
            </a:extLst>
          </p:cNvPr>
          <p:cNvPicPr>
            <a:picLocks noChangeAspect="1"/>
          </p:cNvPicPr>
          <p:nvPr/>
        </p:nvPicPr>
        <p:blipFill>
          <a:blip r:embed="rId3"/>
          <a:stretch>
            <a:fillRect/>
          </a:stretch>
        </p:blipFill>
        <p:spPr>
          <a:xfrm>
            <a:off x="11737598" y="7717156"/>
            <a:ext cx="2810267" cy="48584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24124" y="666869"/>
            <a:ext cx="7468553" cy="985361"/>
          </a:xfrm>
          <a:prstGeom prst="rect">
            <a:avLst/>
          </a:prstGeom>
          <a:noFill/>
          <a:ln/>
        </p:spPr>
        <p:txBody>
          <a:bodyPr wrap="square" lIns="0" tIns="0" rIns="0" bIns="0" rtlCol="0" anchor="t"/>
          <a:lstStyle/>
          <a:p>
            <a:pPr marL="0" indent="0" algn="l">
              <a:lnSpc>
                <a:spcPts val="3850"/>
              </a:lnSpc>
              <a:buNone/>
            </a:pPr>
            <a:r>
              <a:rPr lang="en-US" sz="3100" dirty="0">
                <a:solidFill>
                  <a:srgbClr val="38512F"/>
                </a:solidFill>
                <a:latin typeface="Lora" pitchFamily="34" charset="0"/>
                <a:ea typeface="Lora" pitchFamily="34" charset="-122"/>
                <a:cs typeface="Lora" pitchFamily="34" charset="-120"/>
              </a:rPr>
              <a:t>User Experience Features: Designed for Clarity</a:t>
            </a:r>
            <a:endParaRPr lang="en-US" sz="3100" dirty="0"/>
          </a:p>
        </p:txBody>
      </p:sp>
      <p:pic>
        <p:nvPicPr>
          <p:cNvPr id="4"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324124" y="1903571"/>
            <a:ext cx="418862" cy="418862"/>
          </a:xfrm>
          <a:prstGeom prst="rect">
            <a:avLst/>
          </a:prstGeom>
        </p:spPr>
      </p:pic>
      <p:sp>
        <p:nvSpPr>
          <p:cNvPr id="5" name="Text 1"/>
          <p:cNvSpPr/>
          <p:nvPr/>
        </p:nvSpPr>
        <p:spPr>
          <a:xfrm>
            <a:off x="6952417" y="2002988"/>
            <a:ext cx="1971318" cy="246459"/>
          </a:xfrm>
          <a:prstGeom prst="rect">
            <a:avLst/>
          </a:prstGeom>
          <a:noFill/>
          <a:ln/>
        </p:spPr>
        <p:txBody>
          <a:bodyPr wrap="none" lIns="0" tIns="0" rIns="0" bIns="0" rtlCol="0" anchor="t"/>
          <a:lstStyle/>
          <a:p>
            <a:pPr marL="0" indent="0" algn="l">
              <a:lnSpc>
                <a:spcPts val="1900"/>
              </a:lnSpc>
              <a:buNone/>
            </a:pPr>
            <a:r>
              <a:rPr lang="en-US" sz="1550" dirty="0">
                <a:solidFill>
                  <a:srgbClr val="3A3630"/>
                </a:solidFill>
                <a:latin typeface="Lora" pitchFamily="34" charset="0"/>
                <a:ea typeface="Lora" pitchFamily="34" charset="-122"/>
                <a:cs typeface="Lora" pitchFamily="34" charset="-120"/>
              </a:rPr>
              <a:t>Simple &amp; Clean UI</a:t>
            </a:r>
            <a:endParaRPr lang="en-US" sz="1550" dirty="0"/>
          </a:p>
        </p:txBody>
      </p:sp>
      <p:sp>
        <p:nvSpPr>
          <p:cNvPr id="6" name="Text 2"/>
          <p:cNvSpPr/>
          <p:nvPr/>
        </p:nvSpPr>
        <p:spPr>
          <a:xfrm>
            <a:off x="6952417" y="2349937"/>
            <a:ext cx="6840260" cy="536019"/>
          </a:xfrm>
          <a:prstGeom prst="rect">
            <a:avLst/>
          </a:prstGeom>
          <a:noFill/>
          <a:ln/>
        </p:spPr>
        <p:txBody>
          <a:bodyPr wrap="square" lIns="0" tIns="0" rIns="0" bIns="0" rtlCol="0" anchor="t"/>
          <a:lstStyle/>
          <a:p>
            <a:pPr marL="0" indent="0" algn="l">
              <a:lnSpc>
                <a:spcPts val="2100"/>
              </a:lnSpc>
              <a:buNone/>
            </a:pPr>
            <a:r>
              <a:rPr lang="en-US" sz="1300" dirty="0">
                <a:solidFill>
                  <a:srgbClr val="3A3630"/>
                </a:solidFill>
                <a:latin typeface="Source Sans 3" pitchFamily="34" charset="0"/>
                <a:ea typeface="Source Sans 3" pitchFamily="34" charset="-122"/>
                <a:cs typeface="Source Sans 3" pitchFamily="34" charset="-120"/>
              </a:rPr>
              <a:t>A clean layout focuses user attention on the core task of job post analysis, minimizing cognitive load.</a:t>
            </a:r>
            <a:endParaRPr lang="en-US" sz="1300" dirty="0"/>
          </a:p>
        </p:txBody>
      </p:sp>
      <p:pic>
        <p:nvPicPr>
          <p:cNvPr id="7"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324124" y="3220998"/>
            <a:ext cx="418862" cy="418862"/>
          </a:xfrm>
          <a:prstGeom prst="rect">
            <a:avLst/>
          </a:prstGeom>
        </p:spPr>
      </p:pic>
      <p:sp>
        <p:nvSpPr>
          <p:cNvPr id="8" name="Text 3"/>
          <p:cNvSpPr/>
          <p:nvPr/>
        </p:nvSpPr>
        <p:spPr>
          <a:xfrm>
            <a:off x="6952417" y="3320415"/>
            <a:ext cx="1971318" cy="246459"/>
          </a:xfrm>
          <a:prstGeom prst="rect">
            <a:avLst/>
          </a:prstGeom>
          <a:noFill/>
          <a:ln/>
        </p:spPr>
        <p:txBody>
          <a:bodyPr wrap="none" lIns="0" tIns="0" rIns="0" bIns="0" rtlCol="0" anchor="t"/>
          <a:lstStyle/>
          <a:p>
            <a:pPr marL="0" indent="0" algn="l">
              <a:lnSpc>
                <a:spcPts val="1900"/>
              </a:lnSpc>
              <a:buNone/>
            </a:pPr>
            <a:r>
              <a:rPr lang="en-US" sz="1550" dirty="0">
                <a:solidFill>
                  <a:srgbClr val="3A3630"/>
                </a:solidFill>
                <a:latin typeface="Lora" pitchFamily="34" charset="0"/>
                <a:ea typeface="Lora" pitchFamily="34" charset="-122"/>
                <a:cs typeface="Lora" pitchFamily="34" charset="-120"/>
              </a:rPr>
              <a:t>Real-time Response</a:t>
            </a:r>
            <a:endParaRPr lang="en-US" sz="1550" dirty="0"/>
          </a:p>
        </p:txBody>
      </p:sp>
      <p:sp>
        <p:nvSpPr>
          <p:cNvPr id="9" name="Text 4"/>
          <p:cNvSpPr/>
          <p:nvPr/>
        </p:nvSpPr>
        <p:spPr>
          <a:xfrm>
            <a:off x="6952417" y="3667363"/>
            <a:ext cx="6840260" cy="536019"/>
          </a:xfrm>
          <a:prstGeom prst="rect">
            <a:avLst/>
          </a:prstGeom>
          <a:noFill/>
          <a:ln/>
        </p:spPr>
        <p:txBody>
          <a:bodyPr wrap="square" lIns="0" tIns="0" rIns="0" bIns="0" rtlCol="0" anchor="t"/>
          <a:lstStyle/>
          <a:p>
            <a:pPr marL="0" indent="0" algn="l">
              <a:lnSpc>
                <a:spcPts val="2100"/>
              </a:lnSpc>
              <a:buNone/>
            </a:pPr>
            <a:r>
              <a:rPr lang="en-US" sz="1300" dirty="0">
                <a:solidFill>
                  <a:srgbClr val="3A3630"/>
                </a:solidFill>
                <a:latin typeface="Source Sans 3" pitchFamily="34" charset="0"/>
                <a:ea typeface="Source Sans 3" pitchFamily="34" charset="-122"/>
                <a:cs typeface="Source Sans 3" pitchFamily="34" charset="-120"/>
              </a:rPr>
              <a:t>Users receive immediate feedback on their job post submissions, ensuring a highly responsive and interactive experience.</a:t>
            </a:r>
            <a:endParaRPr lang="en-US" sz="1300" dirty="0"/>
          </a:p>
        </p:txBody>
      </p:sp>
      <p:pic>
        <p:nvPicPr>
          <p:cNvPr id="10"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324124" y="4538424"/>
            <a:ext cx="418862" cy="418862"/>
          </a:xfrm>
          <a:prstGeom prst="rect">
            <a:avLst/>
          </a:prstGeom>
        </p:spPr>
      </p:pic>
      <p:sp>
        <p:nvSpPr>
          <p:cNvPr id="11" name="Text 5"/>
          <p:cNvSpPr/>
          <p:nvPr/>
        </p:nvSpPr>
        <p:spPr>
          <a:xfrm>
            <a:off x="6952417" y="4637842"/>
            <a:ext cx="2062401" cy="246459"/>
          </a:xfrm>
          <a:prstGeom prst="rect">
            <a:avLst/>
          </a:prstGeom>
          <a:noFill/>
          <a:ln/>
        </p:spPr>
        <p:txBody>
          <a:bodyPr wrap="none" lIns="0" tIns="0" rIns="0" bIns="0" rtlCol="0" anchor="t"/>
          <a:lstStyle/>
          <a:p>
            <a:pPr marL="0" indent="0" algn="l">
              <a:lnSpc>
                <a:spcPts val="1900"/>
              </a:lnSpc>
              <a:buNone/>
            </a:pPr>
            <a:r>
              <a:rPr lang="en-US" sz="1550" dirty="0">
                <a:solidFill>
                  <a:srgbClr val="3A3630"/>
                </a:solidFill>
                <a:latin typeface="Lora" pitchFamily="34" charset="0"/>
                <a:ea typeface="Lora" pitchFamily="34" charset="-122"/>
                <a:cs typeface="Lora" pitchFamily="34" charset="-120"/>
              </a:rPr>
              <a:t>Robust Error Handling</a:t>
            </a:r>
            <a:endParaRPr lang="en-US" sz="1550" dirty="0"/>
          </a:p>
        </p:txBody>
      </p:sp>
      <p:sp>
        <p:nvSpPr>
          <p:cNvPr id="12" name="Text 6"/>
          <p:cNvSpPr/>
          <p:nvPr/>
        </p:nvSpPr>
        <p:spPr>
          <a:xfrm>
            <a:off x="6952417" y="4984790"/>
            <a:ext cx="6840260" cy="536019"/>
          </a:xfrm>
          <a:prstGeom prst="rect">
            <a:avLst/>
          </a:prstGeom>
          <a:noFill/>
          <a:ln/>
        </p:spPr>
        <p:txBody>
          <a:bodyPr wrap="square" lIns="0" tIns="0" rIns="0" bIns="0" rtlCol="0" anchor="t"/>
          <a:lstStyle/>
          <a:p>
            <a:pPr marL="0" indent="0" algn="l">
              <a:lnSpc>
                <a:spcPts val="2100"/>
              </a:lnSpc>
              <a:buNone/>
            </a:pPr>
            <a:r>
              <a:rPr lang="en-US" sz="1300" dirty="0">
                <a:solidFill>
                  <a:srgbClr val="3A3630"/>
                </a:solidFill>
                <a:latin typeface="Source Sans 3" pitchFamily="34" charset="0"/>
                <a:ea typeface="Source Sans 3" pitchFamily="34" charset="-122"/>
                <a:cs typeface="Source Sans 3" pitchFamily="34" charset="-120"/>
              </a:rPr>
              <a:t>Gracefully manages unexpected inputs or backend issues, providing informative messages to guide users.</a:t>
            </a:r>
            <a:endParaRPr lang="en-US" sz="1300" dirty="0"/>
          </a:p>
        </p:txBody>
      </p:sp>
      <p:pic>
        <p:nvPicPr>
          <p:cNvPr id="13" name="Image 4"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324124" y="5855851"/>
            <a:ext cx="418862" cy="418862"/>
          </a:xfrm>
          <a:prstGeom prst="rect">
            <a:avLst/>
          </a:prstGeom>
        </p:spPr>
      </p:pic>
      <p:sp>
        <p:nvSpPr>
          <p:cNvPr id="14" name="Text 7"/>
          <p:cNvSpPr/>
          <p:nvPr/>
        </p:nvSpPr>
        <p:spPr>
          <a:xfrm>
            <a:off x="6952417" y="5955268"/>
            <a:ext cx="2326362" cy="246459"/>
          </a:xfrm>
          <a:prstGeom prst="rect">
            <a:avLst/>
          </a:prstGeom>
          <a:noFill/>
          <a:ln/>
        </p:spPr>
        <p:txBody>
          <a:bodyPr wrap="none" lIns="0" tIns="0" rIns="0" bIns="0" rtlCol="0" anchor="t"/>
          <a:lstStyle/>
          <a:p>
            <a:pPr marL="0" indent="0" algn="l">
              <a:lnSpc>
                <a:spcPts val="1900"/>
              </a:lnSpc>
              <a:buNone/>
            </a:pPr>
            <a:r>
              <a:rPr lang="en-US" sz="1550" dirty="0">
                <a:solidFill>
                  <a:srgbClr val="3A3630"/>
                </a:solidFill>
                <a:latin typeface="Lora" pitchFamily="34" charset="0"/>
                <a:ea typeface="Lora" pitchFamily="34" charset="-122"/>
                <a:cs typeface="Lora" pitchFamily="34" charset="-120"/>
              </a:rPr>
              <a:t>Clear Feedback Messages</a:t>
            </a:r>
            <a:endParaRPr lang="en-US" sz="1550" dirty="0"/>
          </a:p>
        </p:txBody>
      </p:sp>
      <p:sp>
        <p:nvSpPr>
          <p:cNvPr id="15" name="Text 8"/>
          <p:cNvSpPr/>
          <p:nvPr/>
        </p:nvSpPr>
        <p:spPr>
          <a:xfrm>
            <a:off x="6952417" y="6302216"/>
            <a:ext cx="6840260" cy="536019"/>
          </a:xfrm>
          <a:prstGeom prst="rect">
            <a:avLst/>
          </a:prstGeom>
          <a:noFill/>
          <a:ln/>
        </p:spPr>
        <p:txBody>
          <a:bodyPr wrap="square" lIns="0" tIns="0" rIns="0" bIns="0" rtlCol="0" anchor="t"/>
          <a:lstStyle/>
          <a:p>
            <a:pPr marL="0" indent="0" algn="l">
              <a:lnSpc>
                <a:spcPts val="2100"/>
              </a:lnSpc>
              <a:buNone/>
            </a:pPr>
            <a:r>
              <a:rPr lang="en-US" sz="1300" dirty="0">
                <a:solidFill>
                  <a:srgbClr val="3A3630"/>
                </a:solidFill>
                <a:latin typeface="Source Sans 3" pitchFamily="34" charset="0"/>
                <a:ea typeface="Source Sans 3" pitchFamily="34" charset="-122"/>
                <a:cs typeface="Source Sans 3" pitchFamily="34" charset="-120"/>
              </a:rPr>
              <a:t>Prediction results and any system messages are communicated in an unambiguous and easy-to-understand manner.</a:t>
            </a:r>
            <a:endParaRPr lang="en-US" sz="1300" dirty="0"/>
          </a:p>
        </p:txBody>
      </p:sp>
      <p:sp>
        <p:nvSpPr>
          <p:cNvPr id="16" name="Text 9"/>
          <p:cNvSpPr/>
          <p:nvPr/>
        </p:nvSpPr>
        <p:spPr>
          <a:xfrm>
            <a:off x="6324124" y="7026712"/>
            <a:ext cx="7468553" cy="536019"/>
          </a:xfrm>
          <a:prstGeom prst="rect">
            <a:avLst/>
          </a:prstGeom>
          <a:noFill/>
          <a:ln/>
        </p:spPr>
        <p:txBody>
          <a:bodyPr wrap="square" lIns="0" tIns="0" rIns="0" bIns="0" rtlCol="0" anchor="t"/>
          <a:lstStyle/>
          <a:p>
            <a:pPr marL="0" indent="0" algn="l">
              <a:lnSpc>
                <a:spcPts val="2100"/>
              </a:lnSpc>
              <a:buNone/>
            </a:pPr>
            <a:r>
              <a:rPr lang="en-US" sz="1300" dirty="0">
                <a:solidFill>
                  <a:srgbClr val="3A3630"/>
                </a:solidFill>
                <a:latin typeface="Source Sans 3" pitchFamily="34" charset="0"/>
                <a:ea typeface="Source Sans 3" pitchFamily="34" charset="-122"/>
                <a:cs typeface="Source Sans 3" pitchFamily="34" charset="-120"/>
              </a:rPr>
              <a:t>These features collectively contribute to a positive and efficient user experience, making the fake job post detection tool both effective and enjoyable to use.</a:t>
            </a:r>
            <a:endParaRPr lang="en-US" sz="1300" dirty="0"/>
          </a:p>
        </p:txBody>
      </p:sp>
      <p:pic>
        <p:nvPicPr>
          <p:cNvPr id="18" name="Picture 17">
            <a:extLst>
              <a:ext uri="{FF2B5EF4-FFF2-40B4-BE49-F238E27FC236}">
                <a16:creationId xmlns:a16="http://schemas.microsoft.com/office/drawing/2014/main" id="{703D1593-1854-A50A-4FAE-8A9734C4919F}"/>
              </a:ext>
            </a:extLst>
          </p:cNvPr>
          <p:cNvPicPr>
            <a:picLocks noChangeAspect="1"/>
          </p:cNvPicPr>
          <p:nvPr/>
        </p:nvPicPr>
        <p:blipFill>
          <a:blip r:embed="rId12"/>
          <a:stretch>
            <a:fillRect/>
          </a:stretch>
        </p:blipFill>
        <p:spPr>
          <a:xfrm>
            <a:off x="11710791" y="7619642"/>
            <a:ext cx="2810267" cy="48584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837724" y="1263848"/>
            <a:ext cx="9277231" cy="615910"/>
          </a:xfrm>
          <a:prstGeom prst="rect">
            <a:avLst/>
          </a:prstGeom>
          <a:noFill/>
          <a:ln/>
        </p:spPr>
        <p:txBody>
          <a:bodyPr wrap="none" lIns="0" tIns="0" rIns="0" bIns="0" rtlCol="0" anchor="t"/>
          <a:lstStyle/>
          <a:p>
            <a:pPr marL="0" indent="0" algn="l">
              <a:lnSpc>
                <a:spcPts val="4850"/>
              </a:lnSpc>
              <a:buNone/>
            </a:pPr>
            <a:r>
              <a:rPr lang="en-US" sz="3850" dirty="0">
                <a:solidFill>
                  <a:srgbClr val="38512F"/>
                </a:solidFill>
                <a:latin typeface="Lora" pitchFamily="34" charset="0"/>
                <a:ea typeface="Lora" pitchFamily="34" charset="-122"/>
                <a:cs typeface="Lora" pitchFamily="34" charset="-120"/>
              </a:rPr>
              <a:t>Testing &amp; Validation: Ensuring Reliability</a:t>
            </a:r>
            <a:endParaRPr lang="en-US" sz="3850" dirty="0"/>
          </a:p>
        </p:txBody>
      </p:sp>
      <p:sp>
        <p:nvSpPr>
          <p:cNvPr id="3" name="Shape 1"/>
          <p:cNvSpPr/>
          <p:nvPr/>
        </p:nvSpPr>
        <p:spPr>
          <a:xfrm>
            <a:off x="837724" y="2298621"/>
            <a:ext cx="12954952" cy="3761423"/>
          </a:xfrm>
          <a:prstGeom prst="roundRect">
            <a:avLst>
              <a:gd name="adj" fmla="val 835"/>
            </a:avLst>
          </a:prstGeom>
          <a:noFill/>
          <a:ln w="7620">
            <a:solidFill>
              <a:srgbClr val="000000">
                <a:alpha val="8000"/>
              </a:srgbClr>
            </a:solidFill>
            <a:prstDash val="solid"/>
          </a:ln>
        </p:spPr>
      </p:sp>
      <p:sp>
        <p:nvSpPr>
          <p:cNvPr id="4" name="Shape 2"/>
          <p:cNvSpPr/>
          <p:nvPr/>
        </p:nvSpPr>
        <p:spPr>
          <a:xfrm>
            <a:off x="845344" y="2306241"/>
            <a:ext cx="12939713" cy="936546"/>
          </a:xfrm>
          <a:prstGeom prst="rect">
            <a:avLst/>
          </a:prstGeom>
          <a:solidFill>
            <a:srgbClr val="FFFFFF">
              <a:alpha val="4000"/>
            </a:srgbClr>
          </a:solidFill>
          <a:ln/>
        </p:spPr>
      </p:sp>
      <p:sp>
        <p:nvSpPr>
          <p:cNvPr id="5" name="Text 3"/>
          <p:cNvSpPr/>
          <p:nvPr/>
        </p:nvSpPr>
        <p:spPr>
          <a:xfrm>
            <a:off x="1054775" y="2439472"/>
            <a:ext cx="3459242" cy="335042"/>
          </a:xfrm>
          <a:prstGeom prst="rect">
            <a:avLst/>
          </a:prstGeom>
          <a:noFill/>
          <a:ln/>
        </p:spPr>
        <p:txBody>
          <a:bodyPr wrap="none" lIns="0" tIns="0" rIns="0" bIns="0" rtlCol="0" anchor="t"/>
          <a:lstStyle/>
          <a:p>
            <a:pPr marL="0" indent="0" algn="l">
              <a:lnSpc>
                <a:spcPts val="2600"/>
              </a:lnSpc>
              <a:buNone/>
            </a:pPr>
            <a:r>
              <a:rPr lang="en-US" sz="1600" dirty="0">
                <a:solidFill>
                  <a:srgbClr val="3A3630"/>
                </a:solidFill>
                <a:latin typeface="Source Sans 3" pitchFamily="34" charset="0"/>
                <a:ea typeface="Source Sans 3" pitchFamily="34" charset="-122"/>
                <a:cs typeface="Source Sans 3" pitchFamily="34" charset="-120"/>
              </a:rPr>
              <a:t>Comprehensive Testing</a:t>
            </a:r>
            <a:endParaRPr lang="en-US" sz="1600" dirty="0"/>
          </a:p>
        </p:txBody>
      </p:sp>
      <p:sp>
        <p:nvSpPr>
          <p:cNvPr id="6" name="Text 4"/>
          <p:cNvSpPr/>
          <p:nvPr/>
        </p:nvSpPr>
        <p:spPr>
          <a:xfrm>
            <a:off x="4940498" y="2439472"/>
            <a:ext cx="8635127" cy="670084"/>
          </a:xfrm>
          <a:prstGeom prst="rect">
            <a:avLst/>
          </a:prstGeom>
          <a:noFill/>
          <a:ln/>
        </p:spPr>
        <p:txBody>
          <a:bodyPr wrap="square" lIns="0" tIns="0" rIns="0" bIns="0" rtlCol="0" anchor="t"/>
          <a:lstStyle/>
          <a:p>
            <a:pPr marL="0" indent="0" algn="l">
              <a:lnSpc>
                <a:spcPts val="2600"/>
              </a:lnSpc>
              <a:buNone/>
            </a:pPr>
            <a:r>
              <a:rPr lang="en-US" sz="1600" dirty="0">
                <a:solidFill>
                  <a:srgbClr val="3A3630"/>
                </a:solidFill>
                <a:latin typeface="Source Sans 3" pitchFamily="34" charset="0"/>
                <a:ea typeface="Source Sans 3" pitchFamily="34" charset="-122"/>
                <a:cs typeface="Source Sans 3" pitchFamily="34" charset="-120"/>
              </a:rPr>
              <a:t>The system was rigorously tested with a diverse dataset of both real and known fake job posts to confirm accuracy and robustness.</a:t>
            </a:r>
            <a:endParaRPr lang="en-US" sz="1600" dirty="0"/>
          </a:p>
        </p:txBody>
      </p:sp>
      <p:sp>
        <p:nvSpPr>
          <p:cNvPr id="7" name="Shape 5"/>
          <p:cNvSpPr/>
          <p:nvPr/>
        </p:nvSpPr>
        <p:spPr>
          <a:xfrm>
            <a:off x="845344" y="3242786"/>
            <a:ext cx="12939713" cy="936546"/>
          </a:xfrm>
          <a:prstGeom prst="rect">
            <a:avLst/>
          </a:prstGeom>
          <a:solidFill>
            <a:srgbClr val="000000">
              <a:alpha val="4000"/>
            </a:srgbClr>
          </a:solidFill>
          <a:ln/>
        </p:spPr>
      </p:sp>
      <p:sp>
        <p:nvSpPr>
          <p:cNvPr id="8" name="Text 6"/>
          <p:cNvSpPr/>
          <p:nvPr/>
        </p:nvSpPr>
        <p:spPr>
          <a:xfrm>
            <a:off x="1054775" y="3376017"/>
            <a:ext cx="3459242" cy="335042"/>
          </a:xfrm>
          <a:prstGeom prst="rect">
            <a:avLst/>
          </a:prstGeom>
          <a:noFill/>
          <a:ln/>
        </p:spPr>
        <p:txBody>
          <a:bodyPr wrap="none" lIns="0" tIns="0" rIns="0" bIns="0" rtlCol="0" anchor="t"/>
          <a:lstStyle/>
          <a:p>
            <a:pPr marL="0" indent="0" algn="l">
              <a:lnSpc>
                <a:spcPts val="2600"/>
              </a:lnSpc>
              <a:buNone/>
            </a:pPr>
            <a:r>
              <a:rPr lang="en-US" sz="1600" dirty="0">
                <a:solidFill>
                  <a:srgbClr val="3A3630"/>
                </a:solidFill>
                <a:latin typeface="Source Sans 3" pitchFamily="34" charset="0"/>
                <a:ea typeface="Source Sans 3" pitchFamily="34" charset="-122"/>
                <a:cs typeface="Source Sans 3" pitchFamily="34" charset="-120"/>
              </a:rPr>
              <a:t>Edge Case Handling</a:t>
            </a:r>
            <a:endParaRPr lang="en-US" sz="1600" dirty="0"/>
          </a:p>
        </p:txBody>
      </p:sp>
      <p:sp>
        <p:nvSpPr>
          <p:cNvPr id="9" name="Text 7"/>
          <p:cNvSpPr/>
          <p:nvPr/>
        </p:nvSpPr>
        <p:spPr>
          <a:xfrm>
            <a:off x="4940498" y="3376017"/>
            <a:ext cx="8635127" cy="670084"/>
          </a:xfrm>
          <a:prstGeom prst="rect">
            <a:avLst/>
          </a:prstGeom>
          <a:noFill/>
          <a:ln/>
        </p:spPr>
        <p:txBody>
          <a:bodyPr wrap="square" lIns="0" tIns="0" rIns="0" bIns="0" rtlCol="0" anchor="t"/>
          <a:lstStyle/>
          <a:p>
            <a:pPr marL="0" indent="0" algn="l">
              <a:lnSpc>
                <a:spcPts val="2600"/>
              </a:lnSpc>
              <a:buNone/>
            </a:pPr>
            <a:r>
              <a:rPr lang="en-US" sz="1600" dirty="0">
                <a:solidFill>
                  <a:srgbClr val="3A3630"/>
                </a:solidFill>
                <a:latin typeface="Source Sans 3" pitchFamily="34" charset="0"/>
                <a:ea typeface="Source Sans 3" pitchFamily="34" charset="-122"/>
                <a:cs typeface="Source Sans 3" pitchFamily="34" charset="-120"/>
              </a:rPr>
              <a:t>Specific attention was paid to unusual or ambiguous job descriptions to ensure the system behaves predictably and provides meaningful output.</a:t>
            </a:r>
            <a:endParaRPr lang="en-US" sz="1600" dirty="0"/>
          </a:p>
        </p:txBody>
      </p:sp>
      <p:sp>
        <p:nvSpPr>
          <p:cNvPr id="10" name="Shape 8"/>
          <p:cNvSpPr/>
          <p:nvPr/>
        </p:nvSpPr>
        <p:spPr>
          <a:xfrm>
            <a:off x="845344" y="4179332"/>
            <a:ext cx="12939713" cy="936546"/>
          </a:xfrm>
          <a:prstGeom prst="rect">
            <a:avLst/>
          </a:prstGeom>
          <a:solidFill>
            <a:srgbClr val="FFFFFF">
              <a:alpha val="4000"/>
            </a:srgbClr>
          </a:solidFill>
          <a:ln/>
        </p:spPr>
      </p:sp>
      <p:sp>
        <p:nvSpPr>
          <p:cNvPr id="11" name="Text 9"/>
          <p:cNvSpPr/>
          <p:nvPr/>
        </p:nvSpPr>
        <p:spPr>
          <a:xfrm>
            <a:off x="1054775" y="4312563"/>
            <a:ext cx="3459242" cy="335042"/>
          </a:xfrm>
          <a:prstGeom prst="rect">
            <a:avLst/>
          </a:prstGeom>
          <a:noFill/>
          <a:ln/>
        </p:spPr>
        <p:txBody>
          <a:bodyPr wrap="none" lIns="0" tIns="0" rIns="0" bIns="0" rtlCol="0" anchor="t"/>
          <a:lstStyle/>
          <a:p>
            <a:pPr marL="0" indent="0" algn="l">
              <a:lnSpc>
                <a:spcPts val="2600"/>
              </a:lnSpc>
              <a:buNone/>
            </a:pPr>
            <a:r>
              <a:rPr lang="en-US" sz="1600" dirty="0">
                <a:solidFill>
                  <a:srgbClr val="3A3630"/>
                </a:solidFill>
                <a:latin typeface="Source Sans 3" pitchFamily="34" charset="0"/>
                <a:ea typeface="Source Sans 3" pitchFamily="34" charset="-122"/>
                <a:cs typeface="Source Sans 3" pitchFamily="34" charset="-120"/>
              </a:rPr>
              <a:t>Performance Metrics</a:t>
            </a:r>
            <a:endParaRPr lang="en-US" sz="1600" dirty="0"/>
          </a:p>
        </p:txBody>
      </p:sp>
      <p:sp>
        <p:nvSpPr>
          <p:cNvPr id="12" name="Text 10"/>
          <p:cNvSpPr/>
          <p:nvPr/>
        </p:nvSpPr>
        <p:spPr>
          <a:xfrm>
            <a:off x="4940498" y="4312563"/>
            <a:ext cx="8635127" cy="670084"/>
          </a:xfrm>
          <a:prstGeom prst="rect">
            <a:avLst/>
          </a:prstGeom>
          <a:noFill/>
          <a:ln/>
        </p:spPr>
        <p:txBody>
          <a:bodyPr wrap="square" lIns="0" tIns="0" rIns="0" bIns="0" rtlCol="0" anchor="t"/>
          <a:lstStyle/>
          <a:p>
            <a:pPr marL="0" indent="0" algn="l">
              <a:lnSpc>
                <a:spcPts val="2600"/>
              </a:lnSpc>
              <a:buNone/>
            </a:pPr>
            <a:r>
              <a:rPr lang="en-US" sz="1600" dirty="0">
                <a:solidFill>
                  <a:srgbClr val="3A3630"/>
                </a:solidFill>
                <a:latin typeface="Source Sans 3" pitchFamily="34" charset="0"/>
                <a:ea typeface="Source Sans 3" pitchFamily="34" charset="-122"/>
                <a:cs typeface="Source Sans 3" pitchFamily="34" charset="-120"/>
              </a:rPr>
              <a:t>The prediction response time was consistently measured at under 3 seconds, ensuring a smooth and efficient user experience even under load.</a:t>
            </a:r>
            <a:endParaRPr lang="en-US" sz="1600" dirty="0"/>
          </a:p>
        </p:txBody>
      </p:sp>
      <p:sp>
        <p:nvSpPr>
          <p:cNvPr id="13" name="Shape 11"/>
          <p:cNvSpPr/>
          <p:nvPr/>
        </p:nvSpPr>
        <p:spPr>
          <a:xfrm>
            <a:off x="845344" y="5115878"/>
            <a:ext cx="12939713" cy="936546"/>
          </a:xfrm>
          <a:prstGeom prst="rect">
            <a:avLst/>
          </a:prstGeom>
          <a:solidFill>
            <a:srgbClr val="000000">
              <a:alpha val="4000"/>
            </a:srgbClr>
          </a:solidFill>
          <a:ln/>
        </p:spPr>
      </p:sp>
      <p:sp>
        <p:nvSpPr>
          <p:cNvPr id="14" name="Text 12"/>
          <p:cNvSpPr/>
          <p:nvPr/>
        </p:nvSpPr>
        <p:spPr>
          <a:xfrm>
            <a:off x="1054775" y="5249108"/>
            <a:ext cx="3459242" cy="335042"/>
          </a:xfrm>
          <a:prstGeom prst="rect">
            <a:avLst/>
          </a:prstGeom>
          <a:noFill/>
          <a:ln/>
        </p:spPr>
        <p:txBody>
          <a:bodyPr wrap="none" lIns="0" tIns="0" rIns="0" bIns="0" rtlCol="0" anchor="t"/>
          <a:lstStyle/>
          <a:p>
            <a:pPr marL="0" indent="0" algn="l">
              <a:lnSpc>
                <a:spcPts val="2600"/>
              </a:lnSpc>
              <a:buNone/>
            </a:pPr>
            <a:r>
              <a:rPr lang="en-US" sz="1600" dirty="0">
                <a:solidFill>
                  <a:srgbClr val="3A3630"/>
                </a:solidFill>
                <a:latin typeface="Source Sans 3" pitchFamily="34" charset="0"/>
                <a:ea typeface="Source Sans 3" pitchFamily="34" charset="-122"/>
                <a:cs typeface="Source Sans 3" pitchFamily="34" charset="-120"/>
              </a:rPr>
              <a:t>Prediction Stability</a:t>
            </a:r>
            <a:endParaRPr lang="en-US" sz="1600" dirty="0"/>
          </a:p>
        </p:txBody>
      </p:sp>
      <p:sp>
        <p:nvSpPr>
          <p:cNvPr id="15" name="Text 13"/>
          <p:cNvSpPr/>
          <p:nvPr/>
        </p:nvSpPr>
        <p:spPr>
          <a:xfrm>
            <a:off x="4940498" y="5249108"/>
            <a:ext cx="8635127" cy="670084"/>
          </a:xfrm>
          <a:prstGeom prst="rect">
            <a:avLst/>
          </a:prstGeom>
          <a:noFill/>
          <a:ln/>
        </p:spPr>
        <p:txBody>
          <a:bodyPr wrap="square" lIns="0" tIns="0" rIns="0" bIns="0" rtlCol="0" anchor="t"/>
          <a:lstStyle/>
          <a:p>
            <a:pPr marL="0" indent="0" algn="l">
              <a:lnSpc>
                <a:spcPts val="2600"/>
              </a:lnSpc>
              <a:buNone/>
            </a:pPr>
            <a:r>
              <a:rPr lang="en-US" sz="1600" dirty="0">
                <a:solidFill>
                  <a:srgbClr val="3A3630"/>
                </a:solidFill>
                <a:latin typeface="Source Sans 3" pitchFamily="34" charset="0"/>
                <a:ea typeface="Source Sans 3" pitchFamily="34" charset="-122"/>
                <a:cs typeface="Source Sans 3" pitchFamily="34" charset="-120"/>
              </a:rPr>
              <a:t>Multiple runs with identical inputs consistently yielded the same predictions and confidence scores, demonstrating the system's reliability and stability.</a:t>
            </a:r>
            <a:endParaRPr lang="en-US" sz="1600" dirty="0"/>
          </a:p>
        </p:txBody>
      </p:sp>
      <p:sp>
        <p:nvSpPr>
          <p:cNvPr id="16" name="Text 14"/>
          <p:cNvSpPr/>
          <p:nvPr/>
        </p:nvSpPr>
        <p:spPr>
          <a:xfrm>
            <a:off x="837724" y="6295668"/>
            <a:ext cx="12954952" cy="670084"/>
          </a:xfrm>
          <a:prstGeom prst="rect">
            <a:avLst/>
          </a:prstGeom>
          <a:noFill/>
          <a:ln/>
        </p:spPr>
        <p:txBody>
          <a:bodyPr wrap="square" lIns="0" tIns="0" rIns="0" bIns="0" rtlCol="0" anchor="t"/>
          <a:lstStyle/>
          <a:p>
            <a:pPr marL="0" indent="0" algn="l">
              <a:lnSpc>
                <a:spcPts val="2600"/>
              </a:lnSpc>
              <a:buNone/>
            </a:pPr>
            <a:r>
              <a:rPr lang="en-US" sz="1600" dirty="0">
                <a:solidFill>
                  <a:srgbClr val="3A3630"/>
                </a:solidFill>
                <a:latin typeface="Source Sans 3" pitchFamily="34" charset="0"/>
                <a:ea typeface="Source Sans 3" pitchFamily="34" charset="-122"/>
                <a:cs typeface="Source Sans 3" pitchFamily="34" charset="-120"/>
              </a:rPr>
              <a:t>Thorough testing and validation are foundational to deploying a trustworthy and dependable NLP web application. Our efforts confirm that the system meets performance expectations and is ready for practical use.</a:t>
            </a:r>
            <a:endParaRPr lang="en-US" sz="1600" dirty="0"/>
          </a:p>
        </p:txBody>
      </p:sp>
      <p:pic>
        <p:nvPicPr>
          <p:cNvPr id="18" name="Picture 17">
            <a:extLst>
              <a:ext uri="{FF2B5EF4-FFF2-40B4-BE49-F238E27FC236}">
                <a16:creationId xmlns:a16="http://schemas.microsoft.com/office/drawing/2014/main" id="{C669113F-FDDE-7FC4-CF2E-F5BCE19E0586}"/>
              </a:ext>
            </a:extLst>
          </p:cNvPr>
          <p:cNvPicPr>
            <a:picLocks noChangeAspect="1"/>
          </p:cNvPicPr>
          <p:nvPr/>
        </p:nvPicPr>
        <p:blipFill>
          <a:blip r:embed="rId3"/>
          <a:stretch>
            <a:fillRect/>
          </a:stretch>
        </p:blipFill>
        <p:spPr>
          <a:xfrm>
            <a:off x="11820133" y="7643778"/>
            <a:ext cx="2810267" cy="48584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37724" y="1091089"/>
            <a:ext cx="9682758" cy="615910"/>
          </a:xfrm>
          <a:prstGeom prst="rect">
            <a:avLst/>
          </a:prstGeom>
          <a:noFill/>
          <a:ln/>
        </p:spPr>
        <p:txBody>
          <a:bodyPr wrap="none" lIns="0" tIns="0" rIns="0" bIns="0" rtlCol="0" anchor="t"/>
          <a:lstStyle/>
          <a:p>
            <a:pPr marL="0" indent="0" algn="l">
              <a:lnSpc>
                <a:spcPts val="4850"/>
              </a:lnSpc>
              <a:buNone/>
            </a:pPr>
            <a:r>
              <a:rPr lang="en-US" sz="3850" dirty="0">
                <a:solidFill>
                  <a:srgbClr val="38512F"/>
                </a:solidFill>
                <a:latin typeface="Lora" pitchFamily="34" charset="0"/>
                <a:ea typeface="Lora" pitchFamily="34" charset="-122"/>
                <a:cs typeface="Lora" pitchFamily="34" charset="-120"/>
              </a:rPr>
              <a:t>Outcome of Milestone 3: Ready for Action!</a:t>
            </a:r>
            <a:endParaRPr lang="en-US" sz="3850" dirty="0"/>
          </a:p>
        </p:txBody>
      </p:sp>
      <p:sp>
        <p:nvSpPr>
          <p:cNvPr id="3" name="Shape 1"/>
          <p:cNvSpPr/>
          <p:nvPr/>
        </p:nvSpPr>
        <p:spPr>
          <a:xfrm>
            <a:off x="837724" y="2125861"/>
            <a:ext cx="2159079" cy="1187529"/>
          </a:xfrm>
          <a:prstGeom prst="roundRect">
            <a:avLst>
              <a:gd name="adj" fmla="val 2646"/>
            </a:avLst>
          </a:prstGeom>
          <a:solidFill>
            <a:srgbClr val="F3E7D4"/>
          </a:solidFill>
          <a:ln/>
        </p:spPr>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69983" y="2572345"/>
            <a:ext cx="294442" cy="294442"/>
          </a:xfrm>
          <a:prstGeom prst="rect">
            <a:avLst/>
          </a:prstGeom>
        </p:spPr>
      </p:pic>
      <p:sp>
        <p:nvSpPr>
          <p:cNvPr id="5" name="Text 2"/>
          <p:cNvSpPr/>
          <p:nvPr/>
        </p:nvSpPr>
        <p:spPr>
          <a:xfrm>
            <a:off x="3206234" y="2335292"/>
            <a:ext cx="3696653" cy="308015"/>
          </a:xfrm>
          <a:prstGeom prst="rect">
            <a:avLst/>
          </a:prstGeom>
          <a:noFill/>
          <a:ln/>
        </p:spPr>
        <p:txBody>
          <a:bodyPr wrap="none" lIns="0" tIns="0" rIns="0" bIns="0" rtlCol="0" anchor="t"/>
          <a:lstStyle/>
          <a:p>
            <a:pPr marL="0" indent="0" algn="l">
              <a:lnSpc>
                <a:spcPts val="2400"/>
              </a:lnSpc>
              <a:buNone/>
            </a:pPr>
            <a:r>
              <a:rPr lang="en-US" sz="1900" dirty="0">
                <a:solidFill>
                  <a:srgbClr val="3A3630"/>
                </a:solidFill>
                <a:latin typeface="Lora" pitchFamily="34" charset="0"/>
                <a:ea typeface="Lora" pitchFamily="34" charset="-122"/>
                <a:cs typeface="Lora" pitchFamily="34" charset="-120"/>
              </a:rPr>
              <a:t>End-to-End System Operational</a:t>
            </a:r>
            <a:endParaRPr lang="en-US" sz="1900" dirty="0"/>
          </a:p>
        </p:txBody>
      </p:sp>
      <p:sp>
        <p:nvSpPr>
          <p:cNvPr id="6" name="Text 3"/>
          <p:cNvSpPr/>
          <p:nvPr/>
        </p:nvSpPr>
        <p:spPr>
          <a:xfrm>
            <a:off x="3206234" y="2768918"/>
            <a:ext cx="7996833" cy="335042"/>
          </a:xfrm>
          <a:prstGeom prst="rect">
            <a:avLst/>
          </a:prstGeom>
          <a:noFill/>
          <a:ln/>
        </p:spPr>
        <p:txBody>
          <a:bodyPr wrap="none" lIns="0" tIns="0" rIns="0" bIns="0" rtlCol="0" anchor="t"/>
          <a:lstStyle/>
          <a:p>
            <a:pPr marL="0" indent="0" algn="l">
              <a:lnSpc>
                <a:spcPts val="2600"/>
              </a:lnSpc>
              <a:buNone/>
            </a:pPr>
            <a:r>
              <a:rPr lang="en-US" sz="1600" dirty="0">
                <a:solidFill>
                  <a:srgbClr val="3A3630"/>
                </a:solidFill>
                <a:latin typeface="Source Sans 3" pitchFamily="34" charset="0"/>
                <a:ea typeface="Source Sans 3" pitchFamily="34" charset="-122"/>
                <a:cs typeface="Source Sans 3" pitchFamily="34" charset="-120"/>
              </a:rPr>
              <a:t>The full workflow from user input to model prediction is now fully functional and integrated.</a:t>
            </a:r>
            <a:endParaRPr lang="en-US" sz="1600" dirty="0"/>
          </a:p>
        </p:txBody>
      </p:sp>
      <p:sp>
        <p:nvSpPr>
          <p:cNvPr id="7" name="Shape 4"/>
          <p:cNvSpPr/>
          <p:nvPr/>
        </p:nvSpPr>
        <p:spPr>
          <a:xfrm>
            <a:off x="3101459" y="3303865"/>
            <a:ext cx="10586561" cy="11430"/>
          </a:xfrm>
          <a:prstGeom prst="roundRect">
            <a:avLst>
              <a:gd name="adj" fmla="val 274880"/>
            </a:avLst>
          </a:prstGeom>
          <a:solidFill>
            <a:srgbClr val="D9CDBA"/>
          </a:solidFill>
          <a:ln/>
        </p:spPr>
      </p:sp>
      <p:sp>
        <p:nvSpPr>
          <p:cNvPr id="8" name="Shape 5"/>
          <p:cNvSpPr/>
          <p:nvPr/>
        </p:nvSpPr>
        <p:spPr>
          <a:xfrm>
            <a:off x="837724" y="3418046"/>
            <a:ext cx="4318278" cy="1187529"/>
          </a:xfrm>
          <a:prstGeom prst="roundRect">
            <a:avLst>
              <a:gd name="adj" fmla="val 2646"/>
            </a:avLst>
          </a:prstGeom>
          <a:solidFill>
            <a:srgbClr val="F3E7D4"/>
          </a:solidFill>
          <a:ln/>
        </p:spPr>
      </p:sp>
      <p:pic>
        <p:nvPicPr>
          <p:cNvPr id="9"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849642" y="3864531"/>
            <a:ext cx="294442" cy="294442"/>
          </a:xfrm>
          <a:prstGeom prst="rect">
            <a:avLst/>
          </a:prstGeom>
        </p:spPr>
      </p:pic>
      <p:sp>
        <p:nvSpPr>
          <p:cNvPr id="10" name="Text 6"/>
          <p:cNvSpPr/>
          <p:nvPr/>
        </p:nvSpPr>
        <p:spPr>
          <a:xfrm>
            <a:off x="5365433" y="3627477"/>
            <a:ext cx="3519964" cy="308015"/>
          </a:xfrm>
          <a:prstGeom prst="rect">
            <a:avLst/>
          </a:prstGeom>
          <a:noFill/>
          <a:ln/>
        </p:spPr>
        <p:txBody>
          <a:bodyPr wrap="none" lIns="0" tIns="0" rIns="0" bIns="0" rtlCol="0" anchor="t"/>
          <a:lstStyle/>
          <a:p>
            <a:pPr marL="0" indent="0" algn="l">
              <a:lnSpc>
                <a:spcPts val="2400"/>
              </a:lnSpc>
              <a:buNone/>
            </a:pPr>
            <a:r>
              <a:rPr lang="en-US" sz="1900" dirty="0">
                <a:solidFill>
                  <a:srgbClr val="3A3630"/>
                </a:solidFill>
                <a:latin typeface="Lora" pitchFamily="34" charset="0"/>
                <a:ea typeface="Lora" pitchFamily="34" charset="-122"/>
                <a:cs typeface="Lora" pitchFamily="34" charset="-120"/>
              </a:rPr>
              <a:t>Model Successfully Deployable</a:t>
            </a:r>
            <a:endParaRPr lang="en-US" sz="1900" dirty="0"/>
          </a:p>
        </p:txBody>
      </p:sp>
      <p:sp>
        <p:nvSpPr>
          <p:cNvPr id="11" name="Text 7"/>
          <p:cNvSpPr/>
          <p:nvPr/>
        </p:nvSpPr>
        <p:spPr>
          <a:xfrm>
            <a:off x="5365433" y="4061103"/>
            <a:ext cx="7077313" cy="335042"/>
          </a:xfrm>
          <a:prstGeom prst="rect">
            <a:avLst/>
          </a:prstGeom>
          <a:noFill/>
          <a:ln/>
        </p:spPr>
        <p:txBody>
          <a:bodyPr wrap="none" lIns="0" tIns="0" rIns="0" bIns="0" rtlCol="0" anchor="t"/>
          <a:lstStyle/>
          <a:p>
            <a:pPr marL="0" indent="0" algn="l">
              <a:lnSpc>
                <a:spcPts val="2600"/>
              </a:lnSpc>
              <a:buNone/>
            </a:pPr>
            <a:r>
              <a:rPr lang="en-US" sz="1600" dirty="0">
                <a:solidFill>
                  <a:srgbClr val="3A3630"/>
                </a:solidFill>
                <a:latin typeface="Source Sans 3" pitchFamily="34" charset="0"/>
                <a:ea typeface="Source Sans 3" pitchFamily="34" charset="-122"/>
                <a:cs typeface="Source Sans 3" pitchFamily="34" charset="-120"/>
              </a:rPr>
              <a:t>Our NLP model is live, accessible via API, and ready to serve real-time predictions.</a:t>
            </a:r>
            <a:endParaRPr lang="en-US" sz="1600" dirty="0"/>
          </a:p>
        </p:txBody>
      </p:sp>
      <p:sp>
        <p:nvSpPr>
          <p:cNvPr id="12" name="Shape 8"/>
          <p:cNvSpPr/>
          <p:nvPr/>
        </p:nvSpPr>
        <p:spPr>
          <a:xfrm>
            <a:off x="5260658" y="4596051"/>
            <a:ext cx="8427363" cy="11430"/>
          </a:xfrm>
          <a:prstGeom prst="roundRect">
            <a:avLst>
              <a:gd name="adj" fmla="val 274880"/>
            </a:avLst>
          </a:prstGeom>
          <a:solidFill>
            <a:srgbClr val="D9CDBA"/>
          </a:solidFill>
          <a:ln/>
        </p:spPr>
      </p:sp>
      <p:sp>
        <p:nvSpPr>
          <p:cNvPr id="13" name="Shape 9"/>
          <p:cNvSpPr/>
          <p:nvPr/>
        </p:nvSpPr>
        <p:spPr>
          <a:xfrm>
            <a:off x="837724" y="4710232"/>
            <a:ext cx="6477476" cy="1522571"/>
          </a:xfrm>
          <a:prstGeom prst="roundRect">
            <a:avLst>
              <a:gd name="adj" fmla="val 2064"/>
            </a:avLst>
          </a:prstGeom>
          <a:solidFill>
            <a:srgbClr val="F3E7D4"/>
          </a:solidFill>
          <a:ln/>
        </p:spPr>
      </p:sp>
      <p:pic>
        <p:nvPicPr>
          <p:cNvPr id="14"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929182" y="5324237"/>
            <a:ext cx="294442" cy="294442"/>
          </a:xfrm>
          <a:prstGeom prst="rect">
            <a:avLst/>
          </a:prstGeom>
        </p:spPr>
      </p:pic>
      <p:sp>
        <p:nvSpPr>
          <p:cNvPr id="15" name="Text 10"/>
          <p:cNvSpPr/>
          <p:nvPr/>
        </p:nvSpPr>
        <p:spPr>
          <a:xfrm>
            <a:off x="7524631" y="4919663"/>
            <a:ext cx="3331369" cy="308015"/>
          </a:xfrm>
          <a:prstGeom prst="rect">
            <a:avLst/>
          </a:prstGeom>
          <a:noFill/>
          <a:ln/>
        </p:spPr>
        <p:txBody>
          <a:bodyPr wrap="none" lIns="0" tIns="0" rIns="0" bIns="0" rtlCol="0" anchor="t"/>
          <a:lstStyle/>
          <a:p>
            <a:pPr marL="0" indent="0" algn="l">
              <a:lnSpc>
                <a:spcPts val="2400"/>
              </a:lnSpc>
              <a:buNone/>
            </a:pPr>
            <a:r>
              <a:rPr lang="en-US" sz="1900" dirty="0">
                <a:solidFill>
                  <a:srgbClr val="3A3630"/>
                </a:solidFill>
                <a:latin typeface="Lora" pitchFamily="34" charset="0"/>
                <a:ea typeface="Lora" pitchFamily="34" charset="-122"/>
                <a:cs typeface="Lora" pitchFamily="34" charset="-120"/>
              </a:rPr>
              <a:t>Ready for Demo &amp; Evaluation</a:t>
            </a:r>
            <a:endParaRPr lang="en-US" sz="1900" dirty="0"/>
          </a:p>
        </p:txBody>
      </p:sp>
      <p:sp>
        <p:nvSpPr>
          <p:cNvPr id="16" name="Text 11"/>
          <p:cNvSpPr/>
          <p:nvPr/>
        </p:nvSpPr>
        <p:spPr>
          <a:xfrm>
            <a:off x="7524631" y="5353288"/>
            <a:ext cx="6058614" cy="670084"/>
          </a:xfrm>
          <a:prstGeom prst="rect">
            <a:avLst/>
          </a:prstGeom>
          <a:noFill/>
          <a:ln/>
        </p:spPr>
        <p:txBody>
          <a:bodyPr wrap="square" lIns="0" tIns="0" rIns="0" bIns="0" rtlCol="0" anchor="t"/>
          <a:lstStyle/>
          <a:p>
            <a:pPr marL="0" indent="0" algn="l">
              <a:lnSpc>
                <a:spcPts val="2600"/>
              </a:lnSpc>
              <a:buNone/>
            </a:pPr>
            <a:r>
              <a:rPr lang="en-US" sz="1600" dirty="0">
                <a:solidFill>
                  <a:srgbClr val="3A3630"/>
                </a:solidFill>
                <a:latin typeface="Source Sans 3" pitchFamily="34" charset="0"/>
                <a:ea typeface="Source Sans 3" pitchFamily="34" charset="-122"/>
                <a:cs typeface="Source Sans 3" pitchFamily="34" charset="-120"/>
              </a:rPr>
              <a:t>The application is primed for demonstration to stakeholders, allowing for immediate feedback and assessment.</a:t>
            </a:r>
            <a:endParaRPr lang="en-US" sz="1600" dirty="0"/>
          </a:p>
        </p:txBody>
      </p:sp>
      <p:sp>
        <p:nvSpPr>
          <p:cNvPr id="17" name="Text 12"/>
          <p:cNvSpPr/>
          <p:nvPr/>
        </p:nvSpPr>
        <p:spPr>
          <a:xfrm>
            <a:off x="837724" y="6468428"/>
            <a:ext cx="12954952" cy="670084"/>
          </a:xfrm>
          <a:prstGeom prst="rect">
            <a:avLst/>
          </a:prstGeom>
          <a:noFill/>
          <a:ln/>
        </p:spPr>
        <p:txBody>
          <a:bodyPr wrap="square" lIns="0" tIns="0" rIns="0" bIns="0" rtlCol="0" anchor="t"/>
          <a:lstStyle/>
          <a:p>
            <a:pPr marL="0" indent="0" algn="l">
              <a:lnSpc>
                <a:spcPts val="2600"/>
              </a:lnSpc>
              <a:buNone/>
            </a:pPr>
            <a:r>
              <a:rPr lang="en-US" sz="1600" dirty="0">
                <a:solidFill>
                  <a:srgbClr val="3A3630"/>
                </a:solidFill>
                <a:latin typeface="Source Sans 3" pitchFamily="34" charset="0"/>
                <a:ea typeface="Source Sans 3" pitchFamily="34" charset="-122"/>
                <a:cs typeface="Source Sans 3" pitchFamily="34" charset="-120"/>
              </a:rPr>
              <a:t>Milestone 3 marks a pivotal achievement, transitioning our Fake Job Post Detection project from a theoretical concept to a fully deployed, user-ready web application. We are excited to showcase its capabilities and gather valuable insights for future enhancements.</a:t>
            </a:r>
            <a:endParaRPr lang="en-US" sz="1600" dirty="0"/>
          </a:p>
        </p:txBody>
      </p:sp>
      <p:pic>
        <p:nvPicPr>
          <p:cNvPr id="19" name="Picture 18">
            <a:extLst>
              <a:ext uri="{FF2B5EF4-FFF2-40B4-BE49-F238E27FC236}">
                <a16:creationId xmlns:a16="http://schemas.microsoft.com/office/drawing/2014/main" id="{A6498445-3746-F041-B97A-D1E74F982AFD}"/>
              </a:ext>
            </a:extLst>
          </p:cNvPr>
          <p:cNvPicPr>
            <a:picLocks noChangeAspect="1"/>
          </p:cNvPicPr>
          <p:nvPr/>
        </p:nvPicPr>
        <p:blipFill>
          <a:blip r:embed="rId9"/>
          <a:stretch>
            <a:fillRect/>
          </a:stretch>
        </p:blipFill>
        <p:spPr>
          <a:xfrm>
            <a:off x="11820133" y="7749830"/>
            <a:ext cx="2810267" cy="48584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TotalTime>
  <Words>1210</Words>
  <Application>Microsoft Office PowerPoint</Application>
  <PresentationFormat>Custom</PresentationFormat>
  <Paragraphs>98</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Consolas</vt:lpstr>
      <vt:lpstr>Lora</vt:lpstr>
      <vt:lpstr>Source Sans 3</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Aditya Vajramatti</cp:lastModifiedBy>
  <cp:revision>2</cp:revision>
  <dcterms:created xsi:type="dcterms:W3CDTF">2025-12-29T14:30:58Z</dcterms:created>
  <dcterms:modified xsi:type="dcterms:W3CDTF">2025-12-29T14:59:33Z</dcterms:modified>
</cp:coreProperties>
</file>