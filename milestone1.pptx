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embeddedFontLst>
    <p:embeddedFont>
      <p:font typeface="Lora" pitchFamily="2" charset="0"/>
      <p:regular r:id="rId9"/>
    </p:embeddedFont>
    <p:embeddedFont>
      <p:font typeface="Source Sans 3" panose="020B0604020202020204" charset="0"/>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84760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045613"/>
            <a:ext cx="7468553" cy="1408033"/>
          </a:xfrm>
          <a:prstGeom prst="rect">
            <a:avLst/>
          </a:prstGeom>
          <a:noFill/>
          <a:ln/>
        </p:spPr>
        <p:txBody>
          <a:bodyPr wrap="squar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Fake Job Post Detection Project</a:t>
            </a:r>
            <a:endParaRPr lang="en-US" sz="4400" dirty="0"/>
          </a:p>
        </p:txBody>
      </p:sp>
      <p:sp>
        <p:nvSpPr>
          <p:cNvPr id="4" name="Text 1"/>
          <p:cNvSpPr/>
          <p:nvPr/>
        </p:nvSpPr>
        <p:spPr>
          <a:xfrm>
            <a:off x="6324124" y="3549372"/>
            <a:ext cx="7468553" cy="1126569"/>
          </a:xfrm>
          <a:prstGeom prst="rect">
            <a:avLst/>
          </a:prstGeom>
          <a:noFill/>
          <a:ln/>
        </p:spPr>
        <p:txBody>
          <a:bodyPr wrap="square" lIns="0" tIns="0" rIns="0" bIns="0" rtlCol="0" anchor="t"/>
          <a:lstStyle/>
          <a:p>
            <a:pPr marL="0" indent="0" algn="l">
              <a:lnSpc>
                <a:spcPts val="4400"/>
              </a:lnSpc>
              <a:buNone/>
            </a:pPr>
            <a:r>
              <a:rPr lang="en-US" sz="3500" dirty="0">
                <a:solidFill>
                  <a:srgbClr val="38512F"/>
                </a:solidFill>
                <a:latin typeface="Lora" pitchFamily="34" charset="0"/>
                <a:ea typeface="Lora" pitchFamily="34" charset="-122"/>
                <a:cs typeface="Lora" pitchFamily="34" charset="-120"/>
              </a:rPr>
              <a:t>Milestone 1: Data Preprocessing &amp; EDA</a:t>
            </a:r>
            <a:endParaRPr lang="en-US" sz="3500" dirty="0"/>
          </a:p>
        </p:txBody>
      </p:sp>
      <p:sp>
        <p:nvSpPr>
          <p:cNvPr id="5" name="Text 2"/>
          <p:cNvSpPr/>
          <p:nvPr/>
        </p:nvSpPr>
        <p:spPr>
          <a:xfrm>
            <a:off x="6324124" y="5034915"/>
            <a:ext cx="7468553"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This presentation outlines the crucial first milestone: Data Preprocessing and Exploratory Data Analysis (EDA). Our goal is to lay a robust foundation for building an accurate and reliable detection model.</a:t>
            </a:r>
            <a:endParaRPr lang="en-US" sz="1850" dirty="0"/>
          </a:p>
        </p:txBody>
      </p:sp>
      <p:pic>
        <p:nvPicPr>
          <p:cNvPr id="7" name="Picture 6">
            <a:extLst>
              <a:ext uri="{FF2B5EF4-FFF2-40B4-BE49-F238E27FC236}">
                <a16:creationId xmlns:a16="http://schemas.microsoft.com/office/drawing/2014/main" id="{40E7E930-9E92-71FA-03FE-8BE52F1002A3}"/>
              </a:ext>
            </a:extLst>
          </p:cNvPr>
          <p:cNvPicPr>
            <a:picLocks noChangeAspect="1"/>
          </p:cNvPicPr>
          <p:nvPr/>
        </p:nvPicPr>
        <p:blipFill>
          <a:blip r:embed="rId4"/>
          <a:stretch>
            <a:fillRect/>
          </a:stretch>
        </p:blipFill>
        <p:spPr>
          <a:xfrm>
            <a:off x="12210712" y="7772339"/>
            <a:ext cx="2419688" cy="4382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724138"/>
            <a:ext cx="9337477" cy="668774"/>
          </a:xfrm>
          <a:prstGeom prst="rect">
            <a:avLst/>
          </a:prstGeom>
          <a:noFill/>
          <a:ln/>
        </p:spPr>
        <p:txBody>
          <a:bodyPr wrap="none" lIns="0" tIns="0" rIns="0" bIns="0" rtlCol="0" anchor="t"/>
          <a:lstStyle/>
          <a:p>
            <a:pPr marL="0" indent="0" algn="l">
              <a:lnSpc>
                <a:spcPts val="5250"/>
              </a:lnSpc>
              <a:buNone/>
            </a:pPr>
            <a:r>
              <a:rPr lang="en-US" sz="4200" dirty="0">
                <a:solidFill>
                  <a:srgbClr val="38512F"/>
                </a:solidFill>
                <a:latin typeface="Lora" pitchFamily="34" charset="0"/>
                <a:ea typeface="Lora" pitchFamily="34" charset="-122"/>
                <a:cs typeface="Lora" pitchFamily="34" charset="-120"/>
              </a:rPr>
              <a:t>Dataset Cleaning: Preparing Our Data</a:t>
            </a:r>
            <a:endParaRPr lang="en-US" sz="4200" dirty="0"/>
          </a:p>
        </p:txBody>
      </p:sp>
      <p:sp>
        <p:nvSpPr>
          <p:cNvPr id="3" name="Shape 1"/>
          <p:cNvSpPr/>
          <p:nvPr/>
        </p:nvSpPr>
        <p:spPr>
          <a:xfrm>
            <a:off x="837724" y="2188845"/>
            <a:ext cx="4166711" cy="2723078"/>
          </a:xfrm>
          <a:prstGeom prst="roundRect">
            <a:avLst>
              <a:gd name="adj" fmla="val 5373"/>
            </a:avLst>
          </a:prstGeom>
          <a:solidFill>
            <a:srgbClr val="FEF5E7"/>
          </a:solidFill>
          <a:ln/>
        </p:spPr>
      </p:sp>
      <p:sp>
        <p:nvSpPr>
          <p:cNvPr id="4" name="Shape 2"/>
          <p:cNvSpPr/>
          <p:nvPr/>
        </p:nvSpPr>
        <p:spPr>
          <a:xfrm>
            <a:off x="837724" y="2158365"/>
            <a:ext cx="4166711" cy="121920"/>
          </a:xfrm>
          <a:prstGeom prst="roundRect">
            <a:avLst>
              <a:gd name="adj" fmla="val 27979"/>
            </a:avLst>
          </a:prstGeom>
          <a:solidFill>
            <a:srgbClr val="38512F"/>
          </a:solidFill>
          <a:ln/>
        </p:spPr>
      </p:sp>
      <p:sp>
        <p:nvSpPr>
          <p:cNvPr id="5" name="Shape 3"/>
          <p:cNvSpPr/>
          <p:nvPr/>
        </p:nvSpPr>
        <p:spPr>
          <a:xfrm>
            <a:off x="2579965" y="1847731"/>
            <a:ext cx="682228" cy="682228"/>
          </a:xfrm>
          <a:prstGeom prst="roundRect">
            <a:avLst>
              <a:gd name="adj" fmla="val 134031"/>
            </a:avLst>
          </a:prstGeom>
          <a:solidFill>
            <a:srgbClr val="38512F"/>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4634" y="2052280"/>
            <a:ext cx="272891" cy="272891"/>
          </a:xfrm>
          <a:prstGeom prst="rect">
            <a:avLst/>
          </a:prstGeom>
        </p:spPr>
      </p:pic>
      <p:sp>
        <p:nvSpPr>
          <p:cNvPr id="7" name="Text 4"/>
          <p:cNvSpPr/>
          <p:nvPr/>
        </p:nvSpPr>
        <p:spPr>
          <a:xfrm>
            <a:off x="1095613" y="2757368"/>
            <a:ext cx="2787253" cy="334328"/>
          </a:xfrm>
          <a:prstGeom prst="rect">
            <a:avLst/>
          </a:prstGeom>
          <a:noFill/>
          <a:ln/>
        </p:spPr>
        <p:txBody>
          <a:bodyPr wrap="none" lIns="0" tIns="0" rIns="0" bIns="0" rtlCol="0" anchor="t"/>
          <a:lstStyle/>
          <a:p>
            <a:pPr marL="0" indent="0" algn="l">
              <a:lnSpc>
                <a:spcPts val="2600"/>
              </a:lnSpc>
              <a:buNone/>
            </a:pPr>
            <a:r>
              <a:rPr lang="en-US" sz="2100" dirty="0">
                <a:solidFill>
                  <a:srgbClr val="3A3630"/>
                </a:solidFill>
                <a:latin typeface="Lora" pitchFamily="34" charset="0"/>
                <a:ea typeface="Lora" pitchFamily="34" charset="-122"/>
                <a:cs typeface="Lora" pitchFamily="34" charset="-120"/>
              </a:rPr>
              <a:t>Handle Missing Values</a:t>
            </a:r>
            <a:endParaRPr lang="en-US" sz="2100" dirty="0"/>
          </a:p>
        </p:txBody>
      </p:sp>
      <p:sp>
        <p:nvSpPr>
          <p:cNvPr id="8" name="Text 5"/>
          <p:cNvSpPr/>
          <p:nvPr/>
        </p:nvSpPr>
        <p:spPr>
          <a:xfrm>
            <a:off x="1095613" y="3228142"/>
            <a:ext cx="3650933" cy="727710"/>
          </a:xfrm>
          <a:prstGeom prst="rect">
            <a:avLst/>
          </a:prstGeom>
          <a:noFill/>
          <a:ln/>
        </p:spPr>
        <p:txBody>
          <a:bodyPr wrap="square" lIns="0" tIns="0" rIns="0" bIns="0" rtlCol="0" anchor="t"/>
          <a:lstStyle/>
          <a:p>
            <a:pPr marL="0" indent="0" algn="l">
              <a:lnSpc>
                <a:spcPts val="2850"/>
              </a:lnSpc>
              <a:buNone/>
            </a:pPr>
            <a:r>
              <a:rPr lang="en-US" sz="1750" dirty="0">
                <a:solidFill>
                  <a:srgbClr val="3A3630"/>
                </a:solidFill>
                <a:latin typeface="Source Sans 3" pitchFamily="34" charset="0"/>
                <a:ea typeface="Source Sans 3" pitchFamily="34" charset="-122"/>
                <a:cs typeface="Source Sans 3" pitchFamily="34" charset="-120"/>
              </a:rPr>
              <a:t>Strategically addressed missing data points to ensure dataset integrity.</a:t>
            </a:r>
            <a:endParaRPr lang="en-US" sz="1750" dirty="0"/>
          </a:p>
        </p:txBody>
      </p:sp>
      <p:sp>
        <p:nvSpPr>
          <p:cNvPr id="9" name="Shape 6"/>
          <p:cNvSpPr/>
          <p:nvPr/>
        </p:nvSpPr>
        <p:spPr>
          <a:xfrm>
            <a:off x="5231844" y="2188845"/>
            <a:ext cx="4166711" cy="2723078"/>
          </a:xfrm>
          <a:prstGeom prst="roundRect">
            <a:avLst>
              <a:gd name="adj" fmla="val 5373"/>
            </a:avLst>
          </a:prstGeom>
          <a:solidFill>
            <a:srgbClr val="FEF5E7"/>
          </a:solidFill>
          <a:ln/>
        </p:spPr>
      </p:sp>
      <p:sp>
        <p:nvSpPr>
          <p:cNvPr id="10" name="Shape 7"/>
          <p:cNvSpPr/>
          <p:nvPr/>
        </p:nvSpPr>
        <p:spPr>
          <a:xfrm>
            <a:off x="5231844" y="2158365"/>
            <a:ext cx="4166711" cy="121920"/>
          </a:xfrm>
          <a:prstGeom prst="roundRect">
            <a:avLst>
              <a:gd name="adj" fmla="val 27979"/>
            </a:avLst>
          </a:prstGeom>
          <a:solidFill>
            <a:srgbClr val="38512F"/>
          </a:solidFill>
          <a:ln/>
        </p:spPr>
      </p:sp>
      <p:sp>
        <p:nvSpPr>
          <p:cNvPr id="11" name="Shape 8"/>
          <p:cNvSpPr/>
          <p:nvPr/>
        </p:nvSpPr>
        <p:spPr>
          <a:xfrm>
            <a:off x="6974086" y="1847731"/>
            <a:ext cx="682228" cy="682228"/>
          </a:xfrm>
          <a:prstGeom prst="roundRect">
            <a:avLst>
              <a:gd name="adj" fmla="val 134031"/>
            </a:avLst>
          </a:prstGeom>
          <a:solidFill>
            <a:srgbClr val="38512F"/>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78754" y="2052280"/>
            <a:ext cx="272891" cy="272891"/>
          </a:xfrm>
          <a:prstGeom prst="rect">
            <a:avLst/>
          </a:prstGeom>
        </p:spPr>
      </p:pic>
      <p:sp>
        <p:nvSpPr>
          <p:cNvPr id="13" name="Text 9"/>
          <p:cNvSpPr/>
          <p:nvPr/>
        </p:nvSpPr>
        <p:spPr>
          <a:xfrm>
            <a:off x="5489734" y="2757368"/>
            <a:ext cx="3650933" cy="668655"/>
          </a:xfrm>
          <a:prstGeom prst="rect">
            <a:avLst/>
          </a:prstGeom>
          <a:noFill/>
          <a:ln/>
        </p:spPr>
        <p:txBody>
          <a:bodyPr wrap="square" lIns="0" tIns="0" rIns="0" bIns="0" rtlCol="0" anchor="t"/>
          <a:lstStyle/>
          <a:p>
            <a:pPr marL="0" indent="0" algn="l">
              <a:lnSpc>
                <a:spcPts val="2600"/>
              </a:lnSpc>
              <a:buNone/>
            </a:pPr>
            <a:r>
              <a:rPr lang="en-US" sz="2100" dirty="0">
                <a:solidFill>
                  <a:srgbClr val="3A3630"/>
                </a:solidFill>
                <a:latin typeface="Lora" pitchFamily="34" charset="0"/>
                <a:ea typeface="Lora" pitchFamily="34" charset="-122"/>
                <a:cs typeface="Lora" pitchFamily="34" charset="-120"/>
              </a:rPr>
              <a:t>Remove HTML Tags &amp; Special Characters</a:t>
            </a:r>
            <a:endParaRPr lang="en-US" sz="2100" dirty="0"/>
          </a:p>
        </p:txBody>
      </p:sp>
      <p:sp>
        <p:nvSpPr>
          <p:cNvPr id="14" name="Text 10"/>
          <p:cNvSpPr/>
          <p:nvPr/>
        </p:nvSpPr>
        <p:spPr>
          <a:xfrm>
            <a:off x="5489734" y="3562469"/>
            <a:ext cx="3650933" cy="1091565"/>
          </a:xfrm>
          <a:prstGeom prst="rect">
            <a:avLst/>
          </a:prstGeom>
          <a:noFill/>
          <a:ln/>
        </p:spPr>
        <p:txBody>
          <a:bodyPr wrap="square" lIns="0" tIns="0" rIns="0" bIns="0" rtlCol="0" anchor="t"/>
          <a:lstStyle/>
          <a:p>
            <a:pPr marL="0" indent="0" algn="l">
              <a:lnSpc>
                <a:spcPts val="2850"/>
              </a:lnSpc>
              <a:buNone/>
            </a:pPr>
            <a:r>
              <a:rPr lang="en-US" sz="1750" dirty="0">
                <a:solidFill>
                  <a:srgbClr val="3A3630"/>
                </a:solidFill>
                <a:latin typeface="Source Sans 3" pitchFamily="34" charset="0"/>
                <a:ea typeface="Source Sans 3" pitchFamily="34" charset="-122"/>
                <a:cs typeface="Source Sans 3" pitchFamily="34" charset="-120"/>
              </a:rPr>
              <a:t>Cleaned job descriptions by eliminating irrelevant HTML and special characters.</a:t>
            </a:r>
            <a:endParaRPr lang="en-US" sz="1750" dirty="0"/>
          </a:p>
        </p:txBody>
      </p:sp>
      <p:sp>
        <p:nvSpPr>
          <p:cNvPr id="15" name="Shape 11"/>
          <p:cNvSpPr/>
          <p:nvPr/>
        </p:nvSpPr>
        <p:spPr>
          <a:xfrm>
            <a:off x="9625965" y="2188845"/>
            <a:ext cx="4166711" cy="2723078"/>
          </a:xfrm>
          <a:prstGeom prst="roundRect">
            <a:avLst>
              <a:gd name="adj" fmla="val 5373"/>
            </a:avLst>
          </a:prstGeom>
          <a:solidFill>
            <a:srgbClr val="FEF5E7"/>
          </a:solidFill>
          <a:ln/>
        </p:spPr>
      </p:sp>
      <p:sp>
        <p:nvSpPr>
          <p:cNvPr id="16" name="Shape 12"/>
          <p:cNvSpPr/>
          <p:nvPr/>
        </p:nvSpPr>
        <p:spPr>
          <a:xfrm>
            <a:off x="9625965" y="2158365"/>
            <a:ext cx="4166711" cy="121920"/>
          </a:xfrm>
          <a:prstGeom prst="roundRect">
            <a:avLst>
              <a:gd name="adj" fmla="val 27979"/>
            </a:avLst>
          </a:prstGeom>
          <a:solidFill>
            <a:srgbClr val="38512F"/>
          </a:solidFill>
          <a:ln/>
        </p:spPr>
      </p:sp>
      <p:sp>
        <p:nvSpPr>
          <p:cNvPr id="17" name="Shape 13"/>
          <p:cNvSpPr/>
          <p:nvPr/>
        </p:nvSpPr>
        <p:spPr>
          <a:xfrm>
            <a:off x="11368207" y="1847731"/>
            <a:ext cx="682228" cy="682228"/>
          </a:xfrm>
          <a:prstGeom prst="roundRect">
            <a:avLst>
              <a:gd name="adj" fmla="val 134031"/>
            </a:avLst>
          </a:prstGeom>
          <a:solidFill>
            <a:srgbClr val="38512F"/>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72875" y="2052280"/>
            <a:ext cx="272891" cy="272891"/>
          </a:xfrm>
          <a:prstGeom prst="rect">
            <a:avLst/>
          </a:prstGeom>
        </p:spPr>
      </p:pic>
      <p:sp>
        <p:nvSpPr>
          <p:cNvPr id="19" name="Text 14"/>
          <p:cNvSpPr/>
          <p:nvPr/>
        </p:nvSpPr>
        <p:spPr>
          <a:xfrm>
            <a:off x="9883854" y="2757368"/>
            <a:ext cx="2675334" cy="334328"/>
          </a:xfrm>
          <a:prstGeom prst="rect">
            <a:avLst/>
          </a:prstGeom>
          <a:noFill/>
          <a:ln/>
        </p:spPr>
        <p:txBody>
          <a:bodyPr wrap="none" lIns="0" tIns="0" rIns="0" bIns="0" rtlCol="0" anchor="t"/>
          <a:lstStyle/>
          <a:p>
            <a:pPr marL="0" indent="0" algn="l">
              <a:lnSpc>
                <a:spcPts val="2600"/>
              </a:lnSpc>
              <a:buNone/>
            </a:pPr>
            <a:r>
              <a:rPr lang="en-US" sz="2100" dirty="0">
                <a:solidFill>
                  <a:srgbClr val="3A3630"/>
                </a:solidFill>
                <a:latin typeface="Lora" pitchFamily="34" charset="0"/>
                <a:ea typeface="Lora" pitchFamily="34" charset="-122"/>
                <a:cs typeface="Lora" pitchFamily="34" charset="-120"/>
              </a:rPr>
              <a:t>Normalize Text</a:t>
            </a:r>
            <a:endParaRPr lang="en-US" sz="2100" dirty="0"/>
          </a:p>
        </p:txBody>
      </p:sp>
      <p:sp>
        <p:nvSpPr>
          <p:cNvPr id="20" name="Text 15"/>
          <p:cNvSpPr/>
          <p:nvPr/>
        </p:nvSpPr>
        <p:spPr>
          <a:xfrm>
            <a:off x="9883854" y="3228142"/>
            <a:ext cx="3650933" cy="727710"/>
          </a:xfrm>
          <a:prstGeom prst="rect">
            <a:avLst/>
          </a:prstGeom>
          <a:noFill/>
          <a:ln/>
        </p:spPr>
        <p:txBody>
          <a:bodyPr wrap="square" lIns="0" tIns="0" rIns="0" bIns="0" rtlCol="0" anchor="t"/>
          <a:lstStyle/>
          <a:p>
            <a:pPr marL="0" indent="0" algn="l">
              <a:lnSpc>
                <a:spcPts val="2850"/>
              </a:lnSpc>
              <a:buNone/>
            </a:pPr>
            <a:r>
              <a:rPr lang="en-US" sz="1750" dirty="0">
                <a:solidFill>
                  <a:srgbClr val="3A3630"/>
                </a:solidFill>
                <a:latin typeface="Source Sans 3" pitchFamily="34" charset="0"/>
                <a:ea typeface="Source Sans 3" pitchFamily="34" charset="-122"/>
                <a:cs typeface="Source Sans 3" pitchFamily="34" charset="-120"/>
              </a:rPr>
              <a:t>Converted all text to lowercase for consistent linguistic processing.</a:t>
            </a:r>
            <a:endParaRPr lang="en-US" sz="1750" dirty="0"/>
          </a:p>
        </p:txBody>
      </p:sp>
      <p:sp>
        <p:nvSpPr>
          <p:cNvPr id="21" name="Shape 16"/>
          <p:cNvSpPr/>
          <p:nvPr/>
        </p:nvSpPr>
        <p:spPr>
          <a:xfrm>
            <a:off x="837724" y="5480447"/>
            <a:ext cx="6363772" cy="2024896"/>
          </a:xfrm>
          <a:prstGeom prst="roundRect">
            <a:avLst>
              <a:gd name="adj" fmla="val 7225"/>
            </a:avLst>
          </a:prstGeom>
          <a:solidFill>
            <a:srgbClr val="FEF5E7"/>
          </a:solidFill>
          <a:ln/>
        </p:spPr>
      </p:sp>
      <p:sp>
        <p:nvSpPr>
          <p:cNvPr id="22" name="Shape 17"/>
          <p:cNvSpPr/>
          <p:nvPr/>
        </p:nvSpPr>
        <p:spPr>
          <a:xfrm>
            <a:off x="837724" y="5449967"/>
            <a:ext cx="6363772" cy="121920"/>
          </a:xfrm>
          <a:prstGeom prst="roundRect">
            <a:avLst>
              <a:gd name="adj" fmla="val 27979"/>
            </a:avLst>
          </a:prstGeom>
          <a:solidFill>
            <a:srgbClr val="38512F"/>
          </a:solidFill>
          <a:ln/>
        </p:spPr>
      </p:sp>
      <p:sp>
        <p:nvSpPr>
          <p:cNvPr id="23" name="Shape 18"/>
          <p:cNvSpPr/>
          <p:nvPr/>
        </p:nvSpPr>
        <p:spPr>
          <a:xfrm>
            <a:off x="3678436" y="5139333"/>
            <a:ext cx="682228" cy="682228"/>
          </a:xfrm>
          <a:prstGeom prst="roundRect">
            <a:avLst>
              <a:gd name="adj" fmla="val 134031"/>
            </a:avLst>
          </a:prstGeom>
          <a:solidFill>
            <a:srgbClr val="38512F"/>
          </a:solidFill>
          <a:ln/>
        </p:spPr>
      </p:sp>
      <p:pic>
        <p:nvPicPr>
          <p:cNvPr id="2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883104" y="5343882"/>
            <a:ext cx="272891" cy="272891"/>
          </a:xfrm>
          <a:prstGeom prst="rect">
            <a:avLst/>
          </a:prstGeom>
        </p:spPr>
      </p:pic>
      <p:sp>
        <p:nvSpPr>
          <p:cNvPr id="25" name="Text 19"/>
          <p:cNvSpPr/>
          <p:nvPr/>
        </p:nvSpPr>
        <p:spPr>
          <a:xfrm>
            <a:off x="1095613" y="6048970"/>
            <a:ext cx="3253026" cy="334328"/>
          </a:xfrm>
          <a:prstGeom prst="rect">
            <a:avLst/>
          </a:prstGeom>
          <a:noFill/>
          <a:ln/>
        </p:spPr>
        <p:txBody>
          <a:bodyPr wrap="none" lIns="0" tIns="0" rIns="0" bIns="0" rtlCol="0" anchor="t"/>
          <a:lstStyle/>
          <a:p>
            <a:pPr marL="0" indent="0" algn="l">
              <a:lnSpc>
                <a:spcPts val="2600"/>
              </a:lnSpc>
              <a:buNone/>
            </a:pPr>
            <a:r>
              <a:rPr lang="en-US" sz="2100" dirty="0">
                <a:solidFill>
                  <a:srgbClr val="3A3630"/>
                </a:solidFill>
                <a:latin typeface="Lora" pitchFamily="34" charset="0"/>
                <a:ea typeface="Lora" pitchFamily="34" charset="-122"/>
                <a:cs typeface="Lora" pitchFamily="34" charset="-120"/>
              </a:rPr>
              <a:t>Tokenize Job Descriptions</a:t>
            </a:r>
            <a:endParaRPr lang="en-US" sz="2100" dirty="0"/>
          </a:p>
        </p:txBody>
      </p:sp>
      <p:sp>
        <p:nvSpPr>
          <p:cNvPr id="26" name="Text 20"/>
          <p:cNvSpPr/>
          <p:nvPr/>
        </p:nvSpPr>
        <p:spPr>
          <a:xfrm>
            <a:off x="1095613" y="6519743"/>
            <a:ext cx="5847993" cy="727710"/>
          </a:xfrm>
          <a:prstGeom prst="rect">
            <a:avLst/>
          </a:prstGeom>
          <a:noFill/>
          <a:ln/>
        </p:spPr>
        <p:txBody>
          <a:bodyPr wrap="square" lIns="0" tIns="0" rIns="0" bIns="0" rtlCol="0" anchor="t"/>
          <a:lstStyle/>
          <a:p>
            <a:pPr marL="0" indent="0" algn="l">
              <a:lnSpc>
                <a:spcPts val="2850"/>
              </a:lnSpc>
              <a:buNone/>
            </a:pPr>
            <a:r>
              <a:rPr lang="en-US" sz="1750" dirty="0">
                <a:solidFill>
                  <a:srgbClr val="3A3630"/>
                </a:solidFill>
                <a:latin typeface="Source Sans 3" pitchFamily="34" charset="0"/>
                <a:ea typeface="Source Sans 3" pitchFamily="34" charset="-122"/>
                <a:cs typeface="Source Sans 3" pitchFamily="34" charset="-120"/>
              </a:rPr>
              <a:t>Broke down text into individual tokens, preparing for feature extraction.</a:t>
            </a:r>
            <a:endParaRPr lang="en-US" sz="1750" dirty="0"/>
          </a:p>
        </p:txBody>
      </p:sp>
      <p:sp>
        <p:nvSpPr>
          <p:cNvPr id="27" name="Shape 21"/>
          <p:cNvSpPr/>
          <p:nvPr/>
        </p:nvSpPr>
        <p:spPr>
          <a:xfrm>
            <a:off x="7428905" y="5480447"/>
            <a:ext cx="6363772" cy="2024896"/>
          </a:xfrm>
          <a:prstGeom prst="roundRect">
            <a:avLst>
              <a:gd name="adj" fmla="val 7225"/>
            </a:avLst>
          </a:prstGeom>
          <a:solidFill>
            <a:srgbClr val="FEF5E7"/>
          </a:solidFill>
          <a:ln/>
        </p:spPr>
      </p:sp>
      <p:sp>
        <p:nvSpPr>
          <p:cNvPr id="28" name="Shape 22"/>
          <p:cNvSpPr/>
          <p:nvPr/>
        </p:nvSpPr>
        <p:spPr>
          <a:xfrm>
            <a:off x="7428905" y="5449967"/>
            <a:ext cx="6363772" cy="121920"/>
          </a:xfrm>
          <a:prstGeom prst="roundRect">
            <a:avLst>
              <a:gd name="adj" fmla="val 27979"/>
            </a:avLst>
          </a:prstGeom>
          <a:solidFill>
            <a:srgbClr val="38512F"/>
          </a:solidFill>
          <a:ln/>
        </p:spPr>
      </p:sp>
      <p:sp>
        <p:nvSpPr>
          <p:cNvPr id="29" name="Shape 23"/>
          <p:cNvSpPr/>
          <p:nvPr/>
        </p:nvSpPr>
        <p:spPr>
          <a:xfrm>
            <a:off x="10269617" y="5139333"/>
            <a:ext cx="682228" cy="682228"/>
          </a:xfrm>
          <a:prstGeom prst="roundRect">
            <a:avLst>
              <a:gd name="adj" fmla="val 134031"/>
            </a:avLst>
          </a:prstGeom>
          <a:solidFill>
            <a:srgbClr val="38512F"/>
          </a:solidFill>
          <a:ln/>
        </p:spPr>
      </p:sp>
      <p:pic>
        <p:nvPicPr>
          <p:cNvPr id="30"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74285" y="5343882"/>
            <a:ext cx="272891" cy="272891"/>
          </a:xfrm>
          <a:prstGeom prst="rect">
            <a:avLst/>
          </a:prstGeom>
        </p:spPr>
      </p:pic>
      <p:sp>
        <p:nvSpPr>
          <p:cNvPr id="31" name="Text 24"/>
          <p:cNvSpPr/>
          <p:nvPr/>
        </p:nvSpPr>
        <p:spPr>
          <a:xfrm>
            <a:off x="7686794" y="6048970"/>
            <a:ext cx="3015139" cy="334328"/>
          </a:xfrm>
          <a:prstGeom prst="rect">
            <a:avLst/>
          </a:prstGeom>
          <a:noFill/>
          <a:ln/>
        </p:spPr>
        <p:txBody>
          <a:bodyPr wrap="none" lIns="0" tIns="0" rIns="0" bIns="0" rtlCol="0" anchor="t"/>
          <a:lstStyle/>
          <a:p>
            <a:pPr marL="0" indent="0" algn="l">
              <a:lnSpc>
                <a:spcPts val="2600"/>
              </a:lnSpc>
              <a:buNone/>
            </a:pPr>
            <a:r>
              <a:rPr lang="en-US" sz="2100" dirty="0">
                <a:solidFill>
                  <a:srgbClr val="3A3630"/>
                </a:solidFill>
                <a:latin typeface="Lora" pitchFamily="34" charset="0"/>
                <a:ea typeface="Lora" pitchFamily="34" charset="-122"/>
                <a:cs typeface="Lora" pitchFamily="34" charset="-120"/>
              </a:rPr>
              <a:t>Create Clean Text Fields</a:t>
            </a:r>
            <a:endParaRPr lang="en-US" sz="2100" dirty="0"/>
          </a:p>
        </p:txBody>
      </p:sp>
      <p:sp>
        <p:nvSpPr>
          <p:cNvPr id="32" name="Text 25"/>
          <p:cNvSpPr/>
          <p:nvPr/>
        </p:nvSpPr>
        <p:spPr>
          <a:xfrm>
            <a:off x="7686794" y="6519743"/>
            <a:ext cx="5847993" cy="727710"/>
          </a:xfrm>
          <a:prstGeom prst="rect">
            <a:avLst/>
          </a:prstGeom>
          <a:noFill/>
          <a:ln/>
        </p:spPr>
        <p:txBody>
          <a:bodyPr wrap="square" lIns="0" tIns="0" rIns="0" bIns="0" rtlCol="0" anchor="t"/>
          <a:lstStyle/>
          <a:p>
            <a:pPr marL="0" indent="0" algn="l">
              <a:lnSpc>
                <a:spcPts val="2850"/>
              </a:lnSpc>
              <a:buNone/>
            </a:pPr>
            <a:r>
              <a:rPr lang="en-US" sz="1750" dirty="0">
                <a:solidFill>
                  <a:srgbClr val="3A3630"/>
                </a:solidFill>
                <a:latin typeface="Source Sans 3" pitchFamily="34" charset="0"/>
                <a:ea typeface="Source Sans 3" pitchFamily="34" charset="-122"/>
                <a:cs typeface="Source Sans 3" pitchFamily="34" charset="-120"/>
              </a:rPr>
              <a:t>Generated refined text fields, optimized for subsequent analytical steps.</a:t>
            </a:r>
            <a:endParaRPr lang="en-US" sz="1750" dirty="0"/>
          </a:p>
        </p:txBody>
      </p:sp>
      <p:pic>
        <p:nvPicPr>
          <p:cNvPr id="34" name="Picture 33">
            <a:extLst>
              <a:ext uri="{FF2B5EF4-FFF2-40B4-BE49-F238E27FC236}">
                <a16:creationId xmlns:a16="http://schemas.microsoft.com/office/drawing/2014/main" id="{E42C3053-97A2-5CDB-3968-641A7397CFF1}"/>
              </a:ext>
            </a:extLst>
          </p:cNvPr>
          <p:cNvPicPr>
            <a:picLocks noChangeAspect="1"/>
          </p:cNvPicPr>
          <p:nvPr/>
        </p:nvPicPr>
        <p:blipFill>
          <a:blip r:embed="rId13"/>
          <a:stretch>
            <a:fillRect/>
          </a:stretch>
        </p:blipFill>
        <p:spPr>
          <a:xfrm>
            <a:off x="12210712" y="7765314"/>
            <a:ext cx="2419688" cy="4382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120021"/>
            <a:ext cx="12954952" cy="1408033"/>
          </a:xfrm>
          <a:prstGeom prst="rect">
            <a:avLst/>
          </a:prstGeom>
          <a:noFill/>
          <a:ln/>
        </p:spPr>
        <p:txBody>
          <a:bodyPr wrap="squar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Exploratory Data Analysis (EDA): Uncovering Insights</a:t>
            </a:r>
            <a:endParaRPr lang="en-US" sz="4400" dirty="0"/>
          </a:p>
        </p:txBody>
      </p:sp>
      <p:sp>
        <p:nvSpPr>
          <p:cNvPr id="3" name="Shape 1"/>
          <p:cNvSpPr/>
          <p:nvPr/>
        </p:nvSpPr>
        <p:spPr>
          <a:xfrm>
            <a:off x="837724" y="3006804"/>
            <a:ext cx="4158734" cy="2123242"/>
          </a:xfrm>
          <a:prstGeom prst="roundRect">
            <a:avLst>
              <a:gd name="adj" fmla="val 27058"/>
            </a:avLst>
          </a:prstGeom>
          <a:solidFill>
            <a:srgbClr val="F3E7D4"/>
          </a:solidFill>
          <a:ln/>
        </p:spPr>
      </p:sp>
      <p:sp>
        <p:nvSpPr>
          <p:cNvPr id="4" name="Text 2"/>
          <p:cNvSpPr/>
          <p:nvPr/>
        </p:nvSpPr>
        <p:spPr>
          <a:xfrm>
            <a:off x="1077039" y="324612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Dataset Statistics</a:t>
            </a:r>
            <a:endParaRPr lang="en-US" sz="2200" dirty="0"/>
          </a:p>
        </p:txBody>
      </p:sp>
      <p:sp>
        <p:nvSpPr>
          <p:cNvPr id="5" name="Text 3"/>
          <p:cNvSpPr/>
          <p:nvPr/>
        </p:nvSpPr>
        <p:spPr>
          <a:xfrm>
            <a:off x="1077039" y="3741658"/>
            <a:ext cx="3680103"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Calculated and reviewed descriptive statistics for overall data understanding.</a:t>
            </a:r>
            <a:endParaRPr lang="en-US" sz="1850" dirty="0"/>
          </a:p>
        </p:txBody>
      </p:sp>
      <p:sp>
        <p:nvSpPr>
          <p:cNvPr id="6" name="Shape 4"/>
          <p:cNvSpPr/>
          <p:nvPr/>
        </p:nvSpPr>
        <p:spPr>
          <a:xfrm>
            <a:off x="5235773" y="3006804"/>
            <a:ext cx="4158734" cy="2123242"/>
          </a:xfrm>
          <a:prstGeom prst="roundRect">
            <a:avLst>
              <a:gd name="adj" fmla="val 27058"/>
            </a:avLst>
          </a:prstGeom>
          <a:solidFill>
            <a:srgbClr val="F3E7D4"/>
          </a:solidFill>
          <a:ln/>
        </p:spPr>
      </p:sp>
      <p:sp>
        <p:nvSpPr>
          <p:cNvPr id="7" name="Text 5"/>
          <p:cNvSpPr/>
          <p:nvPr/>
        </p:nvSpPr>
        <p:spPr>
          <a:xfrm>
            <a:off x="5475089" y="3246120"/>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Class Imbalance</a:t>
            </a:r>
            <a:endParaRPr lang="en-US" sz="2200" dirty="0"/>
          </a:p>
        </p:txBody>
      </p:sp>
      <p:sp>
        <p:nvSpPr>
          <p:cNvPr id="8" name="Text 6"/>
          <p:cNvSpPr/>
          <p:nvPr/>
        </p:nvSpPr>
        <p:spPr>
          <a:xfrm>
            <a:off x="5475089" y="3741658"/>
            <a:ext cx="3680103"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Visualized the distribution of fake vs. real job posts.</a:t>
            </a:r>
            <a:endParaRPr lang="en-US" sz="1850" dirty="0"/>
          </a:p>
        </p:txBody>
      </p:sp>
      <p:sp>
        <p:nvSpPr>
          <p:cNvPr id="9" name="Shape 7"/>
          <p:cNvSpPr/>
          <p:nvPr/>
        </p:nvSpPr>
        <p:spPr>
          <a:xfrm>
            <a:off x="9633823" y="3006804"/>
            <a:ext cx="4158853" cy="2123242"/>
          </a:xfrm>
          <a:prstGeom prst="roundRect">
            <a:avLst>
              <a:gd name="adj" fmla="val 27058"/>
            </a:avLst>
          </a:prstGeom>
          <a:solidFill>
            <a:srgbClr val="F3E7D4"/>
          </a:solidFill>
          <a:ln/>
        </p:spPr>
      </p:sp>
      <p:sp>
        <p:nvSpPr>
          <p:cNvPr id="10" name="Text 8"/>
          <p:cNvSpPr/>
          <p:nvPr/>
        </p:nvSpPr>
        <p:spPr>
          <a:xfrm>
            <a:off x="9873139" y="3246120"/>
            <a:ext cx="3357682"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Text Length Distributions</a:t>
            </a:r>
            <a:endParaRPr lang="en-US" sz="2200" dirty="0"/>
          </a:p>
        </p:txBody>
      </p:sp>
      <p:sp>
        <p:nvSpPr>
          <p:cNvPr id="11" name="Text 9"/>
          <p:cNvSpPr/>
          <p:nvPr/>
        </p:nvSpPr>
        <p:spPr>
          <a:xfrm>
            <a:off x="9873139" y="3741658"/>
            <a:ext cx="3680222" cy="1149072"/>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Plotted the length of job descriptions to understand content volume patterns.</a:t>
            </a:r>
            <a:endParaRPr lang="en-US" sz="1850" dirty="0"/>
          </a:p>
        </p:txBody>
      </p:sp>
      <p:sp>
        <p:nvSpPr>
          <p:cNvPr id="12" name="Shape 10"/>
          <p:cNvSpPr/>
          <p:nvPr/>
        </p:nvSpPr>
        <p:spPr>
          <a:xfrm>
            <a:off x="837724" y="5369362"/>
            <a:ext cx="6357818" cy="1740218"/>
          </a:xfrm>
          <a:prstGeom prst="roundRect">
            <a:avLst>
              <a:gd name="adj" fmla="val 33014"/>
            </a:avLst>
          </a:prstGeom>
          <a:solidFill>
            <a:srgbClr val="F3E7D4"/>
          </a:solidFill>
          <a:ln/>
        </p:spPr>
      </p:sp>
      <p:sp>
        <p:nvSpPr>
          <p:cNvPr id="13" name="Text 11"/>
          <p:cNvSpPr/>
          <p:nvPr/>
        </p:nvSpPr>
        <p:spPr>
          <a:xfrm>
            <a:off x="1077039" y="560867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Word Clouds</a:t>
            </a:r>
            <a:endParaRPr lang="en-US" sz="2200" dirty="0"/>
          </a:p>
        </p:txBody>
      </p:sp>
      <p:sp>
        <p:nvSpPr>
          <p:cNvPr id="14" name="Text 12"/>
          <p:cNvSpPr/>
          <p:nvPr/>
        </p:nvSpPr>
        <p:spPr>
          <a:xfrm>
            <a:off x="1077039" y="6104215"/>
            <a:ext cx="5879187"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Generated distinct word clouds for fake and real posts to highlight key terms.</a:t>
            </a:r>
            <a:endParaRPr lang="en-US" sz="1850" dirty="0"/>
          </a:p>
        </p:txBody>
      </p:sp>
      <p:sp>
        <p:nvSpPr>
          <p:cNvPr id="15" name="Shape 13"/>
          <p:cNvSpPr/>
          <p:nvPr/>
        </p:nvSpPr>
        <p:spPr>
          <a:xfrm>
            <a:off x="7434858" y="5369362"/>
            <a:ext cx="6357818" cy="1740218"/>
          </a:xfrm>
          <a:prstGeom prst="roundRect">
            <a:avLst>
              <a:gd name="adj" fmla="val 33014"/>
            </a:avLst>
          </a:prstGeom>
          <a:solidFill>
            <a:srgbClr val="F3E7D4"/>
          </a:solidFill>
          <a:ln/>
        </p:spPr>
      </p:sp>
      <p:sp>
        <p:nvSpPr>
          <p:cNvPr id="16" name="Text 14"/>
          <p:cNvSpPr/>
          <p:nvPr/>
        </p:nvSpPr>
        <p:spPr>
          <a:xfrm>
            <a:off x="7674173" y="5608677"/>
            <a:ext cx="2816185" cy="351949"/>
          </a:xfrm>
          <a:prstGeom prst="rect">
            <a:avLst/>
          </a:prstGeom>
          <a:noFill/>
          <a:ln/>
        </p:spPr>
        <p:txBody>
          <a:bodyPr wrap="none" lIns="0" tIns="0" rIns="0" bIns="0" rtlCol="0" anchor="t"/>
          <a:lstStyle/>
          <a:p>
            <a:pPr marL="0" indent="0" algn="l">
              <a:lnSpc>
                <a:spcPts val="2750"/>
              </a:lnSpc>
              <a:buNone/>
            </a:pPr>
            <a:r>
              <a:rPr lang="en-US" sz="2200" dirty="0">
                <a:solidFill>
                  <a:srgbClr val="3A3630"/>
                </a:solidFill>
                <a:latin typeface="Lora" pitchFamily="34" charset="0"/>
                <a:ea typeface="Lora" pitchFamily="34" charset="-122"/>
                <a:cs typeface="Lora" pitchFamily="34" charset="-120"/>
              </a:rPr>
              <a:t>Key Textual Patterns</a:t>
            </a:r>
            <a:endParaRPr lang="en-US" sz="2200" dirty="0"/>
          </a:p>
        </p:txBody>
      </p:sp>
      <p:sp>
        <p:nvSpPr>
          <p:cNvPr id="17" name="Text 15"/>
          <p:cNvSpPr/>
          <p:nvPr/>
        </p:nvSpPr>
        <p:spPr>
          <a:xfrm>
            <a:off x="7674173" y="6104215"/>
            <a:ext cx="5879187"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Identified recurring linguistic features and phrases unique to each class.</a:t>
            </a:r>
            <a:endParaRPr lang="en-US" sz="1850" dirty="0"/>
          </a:p>
        </p:txBody>
      </p:sp>
      <p:pic>
        <p:nvPicPr>
          <p:cNvPr id="19" name="Picture 18">
            <a:extLst>
              <a:ext uri="{FF2B5EF4-FFF2-40B4-BE49-F238E27FC236}">
                <a16:creationId xmlns:a16="http://schemas.microsoft.com/office/drawing/2014/main" id="{D65C0C71-4C39-4DB7-C457-97D1B8F2017C}"/>
              </a:ext>
            </a:extLst>
          </p:cNvPr>
          <p:cNvPicPr>
            <a:picLocks noChangeAspect="1"/>
          </p:cNvPicPr>
          <p:nvPr/>
        </p:nvPicPr>
        <p:blipFill>
          <a:blip r:embed="rId3"/>
          <a:stretch>
            <a:fillRect/>
          </a:stretch>
        </p:blipFill>
        <p:spPr>
          <a:xfrm>
            <a:off x="12210712" y="7732038"/>
            <a:ext cx="2419688" cy="4382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1829872"/>
            <a:ext cx="7253049" cy="704017"/>
          </a:xfrm>
          <a:prstGeom prst="rect">
            <a:avLst/>
          </a:prstGeom>
          <a:noFill/>
          <a:ln/>
        </p:spPr>
        <p:txBody>
          <a:bodyPr wrap="none" lIns="0" tIns="0" rIns="0" bIns="0" rtlCol="0" anchor="t"/>
          <a:lstStyle/>
          <a:p>
            <a:pPr marL="0" indent="0" algn="l">
              <a:lnSpc>
                <a:spcPts val="5500"/>
              </a:lnSpc>
              <a:buNone/>
            </a:pPr>
            <a:r>
              <a:rPr lang="en-US" sz="4400" dirty="0">
                <a:solidFill>
                  <a:srgbClr val="38512F"/>
                </a:solidFill>
                <a:latin typeface="Lora" pitchFamily="34" charset="0"/>
                <a:ea typeface="Lora" pitchFamily="34" charset="-122"/>
                <a:cs typeface="Lora" pitchFamily="34" charset="-120"/>
              </a:rPr>
              <a:t>Addressing Class Imbalance</a:t>
            </a:r>
            <a:endParaRPr lang="en-US" sz="4400" dirty="0"/>
          </a:p>
        </p:txBody>
      </p:sp>
      <p:sp>
        <p:nvSpPr>
          <p:cNvPr id="3" name="Text 1"/>
          <p:cNvSpPr/>
          <p:nvPr/>
        </p:nvSpPr>
        <p:spPr>
          <a:xfrm>
            <a:off x="837724" y="3012638"/>
            <a:ext cx="12954952" cy="766048"/>
          </a:xfrm>
          <a:prstGeom prst="rect">
            <a:avLst/>
          </a:prstGeom>
          <a:noFill/>
          <a:ln/>
        </p:spPr>
        <p:txBody>
          <a:bodyPr wrap="squar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A critical finding from our EDA was the significant class imbalance between fake and real job postings. This imbalance, where one class heavily outnumbers the other, can lead to biased models that perform poorly on the minority class.</a:t>
            </a:r>
            <a:endParaRPr lang="en-US" sz="1850" dirty="0"/>
          </a:p>
        </p:txBody>
      </p:sp>
      <p:sp>
        <p:nvSpPr>
          <p:cNvPr id="4" name="Text 2"/>
          <p:cNvSpPr/>
          <p:nvPr/>
        </p:nvSpPr>
        <p:spPr>
          <a:xfrm>
            <a:off x="837724" y="4047887"/>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A3630"/>
                </a:solidFill>
                <a:latin typeface="Source Sans 3" pitchFamily="34" charset="0"/>
                <a:ea typeface="Source Sans 3" pitchFamily="34" charset="-122"/>
                <a:cs typeface="Source Sans 3" pitchFamily="34" charset="-120"/>
              </a:rPr>
              <a:t>Identified and quantified the imbalance in fake vs. real job posts.</a:t>
            </a:r>
            <a:endParaRPr lang="en-US" sz="1850" dirty="0"/>
          </a:p>
        </p:txBody>
      </p:sp>
      <p:sp>
        <p:nvSpPr>
          <p:cNvPr id="5" name="Text 3"/>
          <p:cNvSpPr/>
          <p:nvPr/>
        </p:nvSpPr>
        <p:spPr>
          <a:xfrm>
            <a:off x="837724" y="4514612"/>
            <a:ext cx="12954952" cy="38302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3A3630"/>
                </a:solidFill>
                <a:latin typeface="Source Sans 3" pitchFamily="34" charset="0"/>
                <a:ea typeface="Source Sans 3" pitchFamily="34" charset="-122"/>
                <a:cs typeface="Source Sans 3" pitchFamily="34" charset="-120"/>
              </a:rPr>
              <a:t>Documented potential impacts on model training and generalization.</a:t>
            </a:r>
            <a:endParaRPr lang="en-US" sz="1850" dirty="0"/>
          </a:p>
        </p:txBody>
      </p:sp>
      <p:sp>
        <p:nvSpPr>
          <p:cNvPr id="6" name="Text 4"/>
          <p:cNvSpPr/>
          <p:nvPr/>
        </p:nvSpPr>
        <p:spPr>
          <a:xfrm>
            <a:off x="837724" y="4981337"/>
            <a:ext cx="12954952" cy="76604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3A3630"/>
                </a:solidFill>
                <a:latin typeface="Source Sans 3" pitchFamily="34" charset="0"/>
                <a:ea typeface="Source Sans 3" pitchFamily="34" charset="-122"/>
                <a:cs typeface="Source Sans 3" pitchFamily="34" charset="-120"/>
              </a:rPr>
              <a:t>Prepared an initial resampling strategy, including techniques like oversampling the minority class or undersampling the majority class, to be implemented in the next milestone.</a:t>
            </a:r>
            <a:endParaRPr lang="en-US" sz="1850" dirty="0"/>
          </a:p>
        </p:txBody>
      </p:sp>
      <p:sp>
        <p:nvSpPr>
          <p:cNvPr id="7" name="Text 5"/>
          <p:cNvSpPr/>
          <p:nvPr/>
        </p:nvSpPr>
        <p:spPr>
          <a:xfrm>
            <a:off x="837724" y="6016585"/>
            <a:ext cx="12954952" cy="383024"/>
          </a:xfrm>
          <a:prstGeom prst="rect">
            <a:avLst/>
          </a:prstGeom>
          <a:noFill/>
          <a:ln/>
        </p:spPr>
        <p:txBody>
          <a:bodyPr wrap="none" lIns="0" tIns="0" rIns="0" bIns="0" rtlCol="0" anchor="t"/>
          <a:lstStyle/>
          <a:p>
            <a:pPr marL="0" indent="0" algn="l">
              <a:lnSpc>
                <a:spcPts val="3000"/>
              </a:lnSpc>
              <a:buNone/>
            </a:pPr>
            <a:r>
              <a:rPr lang="en-US" sz="1850" dirty="0">
                <a:solidFill>
                  <a:srgbClr val="3A3630"/>
                </a:solidFill>
                <a:latin typeface="Source Sans 3" pitchFamily="34" charset="0"/>
                <a:ea typeface="Source Sans 3" pitchFamily="34" charset="-122"/>
                <a:cs typeface="Source Sans 3" pitchFamily="34" charset="-120"/>
              </a:rPr>
              <a:t>Effective handling of this imbalance is crucial for building a robust and fair detection model.</a:t>
            </a:r>
            <a:endParaRPr lang="en-US" sz="1850" dirty="0"/>
          </a:p>
        </p:txBody>
      </p:sp>
      <p:pic>
        <p:nvPicPr>
          <p:cNvPr id="9" name="Picture 8">
            <a:extLst>
              <a:ext uri="{FF2B5EF4-FFF2-40B4-BE49-F238E27FC236}">
                <a16:creationId xmlns:a16="http://schemas.microsoft.com/office/drawing/2014/main" id="{686560D1-A001-BC18-7B2E-8FC498018402}"/>
              </a:ext>
            </a:extLst>
          </p:cNvPr>
          <p:cNvPicPr>
            <a:picLocks noChangeAspect="1"/>
          </p:cNvPicPr>
          <p:nvPr/>
        </p:nvPicPr>
        <p:blipFill>
          <a:blip r:embed="rId3"/>
          <a:stretch>
            <a:fillRect/>
          </a:stretch>
        </p:blipFill>
        <p:spPr>
          <a:xfrm>
            <a:off x="12210712" y="7781626"/>
            <a:ext cx="2419688" cy="43821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769263"/>
            <a:ext cx="10681692" cy="563285"/>
          </a:xfrm>
          <a:prstGeom prst="rect">
            <a:avLst/>
          </a:prstGeom>
          <a:noFill/>
          <a:ln/>
        </p:spPr>
        <p:txBody>
          <a:bodyPr wrap="none" lIns="0" tIns="0" rIns="0" bIns="0" rtlCol="0" anchor="t"/>
          <a:lstStyle/>
          <a:p>
            <a:pPr marL="0" indent="0" algn="l">
              <a:lnSpc>
                <a:spcPts val="4400"/>
              </a:lnSpc>
              <a:buNone/>
            </a:pPr>
            <a:r>
              <a:rPr lang="en-US" sz="3500" dirty="0">
                <a:solidFill>
                  <a:srgbClr val="38512F"/>
                </a:solidFill>
                <a:latin typeface="Lora" pitchFamily="34" charset="0"/>
                <a:ea typeface="Lora" pitchFamily="34" charset="-122"/>
                <a:cs typeface="Lora" pitchFamily="34" charset="-120"/>
              </a:rPr>
              <a:t>Feature Extraction: TF-IDF for Text Representation</a:t>
            </a:r>
            <a:endParaRPr lang="en-US" sz="3500" dirty="0"/>
          </a:p>
        </p:txBody>
      </p:sp>
      <p:pic>
        <p:nvPicPr>
          <p:cNvPr id="3" name="Image 0" descr="preencoded.png"/>
          <p:cNvPicPr>
            <a:picLocks noChangeAspect="1"/>
          </p:cNvPicPr>
          <p:nvPr/>
        </p:nvPicPr>
        <p:blipFill>
          <a:blip r:embed="rId3"/>
          <a:stretch>
            <a:fillRect/>
          </a:stretch>
        </p:blipFill>
        <p:spPr>
          <a:xfrm>
            <a:off x="837724" y="1715453"/>
            <a:ext cx="957501" cy="1148953"/>
          </a:xfrm>
          <a:prstGeom prst="rect">
            <a:avLst/>
          </a:prstGeom>
        </p:spPr>
      </p:pic>
      <p:sp>
        <p:nvSpPr>
          <p:cNvPr id="4" name="Text 1"/>
          <p:cNvSpPr/>
          <p:nvPr/>
        </p:nvSpPr>
        <p:spPr>
          <a:xfrm>
            <a:off x="1986677" y="1906905"/>
            <a:ext cx="2464118" cy="281583"/>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TF-IDF Implementation</a:t>
            </a:r>
            <a:endParaRPr lang="en-US" sz="1750" dirty="0"/>
          </a:p>
        </p:txBody>
      </p:sp>
      <p:sp>
        <p:nvSpPr>
          <p:cNvPr id="5" name="Text 2"/>
          <p:cNvSpPr/>
          <p:nvPr/>
        </p:nvSpPr>
        <p:spPr>
          <a:xfrm>
            <a:off x="1986677" y="2303383"/>
            <a:ext cx="11805999"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Utilized the TF-IDF Vectorizer to convert text data into numerical features.</a:t>
            </a:r>
            <a:endParaRPr lang="en-US" sz="1500" dirty="0"/>
          </a:p>
        </p:txBody>
      </p:sp>
      <p:pic>
        <p:nvPicPr>
          <p:cNvPr id="6" name="Image 1" descr="preencoded.png"/>
          <p:cNvPicPr>
            <a:picLocks noChangeAspect="1"/>
          </p:cNvPicPr>
          <p:nvPr/>
        </p:nvPicPr>
        <p:blipFill>
          <a:blip r:embed="rId4"/>
          <a:stretch>
            <a:fillRect/>
          </a:stretch>
        </p:blipFill>
        <p:spPr>
          <a:xfrm>
            <a:off x="837724" y="2864406"/>
            <a:ext cx="957501" cy="1148953"/>
          </a:xfrm>
          <a:prstGeom prst="rect">
            <a:avLst/>
          </a:prstGeom>
        </p:spPr>
      </p:pic>
      <p:sp>
        <p:nvSpPr>
          <p:cNvPr id="7" name="Text 3"/>
          <p:cNvSpPr/>
          <p:nvPr/>
        </p:nvSpPr>
        <p:spPr>
          <a:xfrm>
            <a:off x="1986677" y="3055858"/>
            <a:ext cx="2784038" cy="281583"/>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Feature Matrix Generation</a:t>
            </a:r>
            <a:endParaRPr lang="en-US" sz="1750" dirty="0"/>
          </a:p>
        </p:txBody>
      </p:sp>
      <p:sp>
        <p:nvSpPr>
          <p:cNvPr id="8" name="Text 4"/>
          <p:cNvSpPr/>
          <p:nvPr/>
        </p:nvSpPr>
        <p:spPr>
          <a:xfrm>
            <a:off x="1986677" y="3452336"/>
            <a:ext cx="11805999"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Created a comprehensive feature matrix representing our cleaned job descriptions.</a:t>
            </a:r>
            <a:endParaRPr lang="en-US" sz="1500" dirty="0"/>
          </a:p>
        </p:txBody>
      </p:sp>
      <p:pic>
        <p:nvPicPr>
          <p:cNvPr id="9" name="Image 2" descr="preencoded.png"/>
          <p:cNvPicPr>
            <a:picLocks noChangeAspect="1"/>
          </p:cNvPicPr>
          <p:nvPr/>
        </p:nvPicPr>
        <p:blipFill>
          <a:blip r:embed="rId5"/>
          <a:stretch>
            <a:fillRect/>
          </a:stretch>
        </p:blipFill>
        <p:spPr>
          <a:xfrm>
            <a:off x="837724" y="4013359"/>
            <a:ext cx="957501" cy="1148953"/>
          </a:xfrm>
          <a:prstGeom prst="rect">
            <a:avLst/>
          </a:prstGeom>
        </p:spPr>
      </p:pic>
      <p:sp>
        <p:nvSpPr>
          <p:cNvPr id="10" name="Text 5"/>
          <p:cNvSpPr/>
          <p:nvPr/>
        </p:nvSpPr>
        <p:spPr>
          <a:xfrm>
            <a:off x="1986677" y="4204811"/>
            <a:ext cx="2471976" cy="281583"/>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N-gram Extraction (1-2)</a:t>
            </a:r>
            <a:endParaRPr lang="en-US" sz="1750" dirty="0"/>
          </a:p>
        </p:txBody>
      </p:sp>
      <p:sp>
        <p:nvSpPr>
          <p:cNvPr id="11" name="Text 6"/>
          <p:cNvSpPr/>
          <p:nvPr/>
        </p:nvSpPr>
        <p:spPr>
          <a:xfrm>
            <a:off x="1986677" y="4601289"/>
            <a:ext cx="11805999"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Extracted unigrams and bigrams to capture important contextual word sequences.</a:t>
            </a:r>
            <a:endParaRPr lang="en-US" sz="1500" dirty="0"/>
          </a:p>
        </p:txBody>
      </p:sp>
      <p:pic>
        <p:nvPicPr>
          <p:cNvPr id="12" name="Image 3" descr="preencoded.png"/>
          <p:cNvPicPr>
            <a:picLocks noChangeAspect="1"/>
          </p:cNvPicPr>
          <p:nvPr/>
        </p:nvPicPr>
        <p:blipFill>
          <a:blip r:embed="rId6"/>
          <a:stretch>
            <a:fillRect/>
          </a:stretch>
        </p:blipFill>
        <p:spPr>
          <a:xfrm>
            <a:off x="837724" y="5162312"/>
            <a:ext cx="957501" cy="1148953"/>
          </a:xfrm>
          <a:prstGeom prst="rect">
            <a:avLst/>
          </a:prstGeom>
        </p:spPr>
      </p:pic>
      <p:sp>
        <p:nvSpPr>
          <p:cNvPr id="13" name="Text 7"/>
          <p:cNvSpPr/>
          <p:nvPr/>
        </p:nvSpPr>
        <p:spPr>
          <a:xfrm>
            <a:off x="1986677" y="5353764"/>
            <a:ext cx="2495550" cy="281583"/>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Embedding Alternatives</a:t>
            </a:r>
            <a:endParaRPr lang="en-US" sz="1750" dirty="0"/>
          </a:p>
        </p:txBody>
      </p:sp>
      <p:sp>
        <p:nvSpPr>
          <p:cNvPr id="14" name="Text 8"/>
          <p:cNvSpPr/>
          <p:nvPr/>
        </p:nvSpPr>
        <p:spPr>
          <a:xfrm>
            <a:off x="1986677" y="5750243"/>
            <a:ext cx="11805999"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Explored advanced embedding techniques like Word2Vec or FastText for future enhancements.</a:t>
            </a:r>
            <a:endParaRPr lang="en-US" sz="1500" dirty="0"/>
          </a:p>
        </p:txBody>
      </p:sp>
      <p:pic>
        <p:nvPicPr>
          <p:cNvPr id="15" name="Image 4" descr="preencoded.png"/>
          <p:cNvPicPr>
            <a:picLocks noChangeAspect="1"/>
          </p:cNvPicPr>
          <p:nvPr/>
        </p:nvPicPr>
        <p:blipFill>
          <a:blip r:embed="rId7"/>
          <a:stretch>
            <a:fillRect/>
          </a:stretch>
        </p:blipFill>
        <p:spPr>
          <a:xfrm>
            <a:off x="837724" y="6311265"/>
            <a:ext cx="957501" cy="1148953"/>
          </a:xfrm>
          <a:prstGeom prst="rect">
            <a:avLst/>
          </a:prstGeom>
        </p:spPr>
      </p:pic>
      <p:sp>
        <p:nvSpPr>
          <p:cNvPr id="16" name="Text 9"/>
          <p:cNvSpPr/>
          <p:nvPr/>
        </p:nvSpPr>
        <p:spPr>
          <a:xfrm>
            <a:off x="1986677" y="6502718"/>
            <a:ext cx="2803803" cy="281583"/>
          </a:xfrm>
          <a:prstGeom prst="rect">
            <a:avLst/>
          </a:prstGeom>
          <a:noFill/>
          <a:ln/>
        </p:spPr>
        <p:txBody>
          <a:bodyPr wrap="none" lIns="0" tIns="0" rIns="0" bIns="0" rtlCol="0" anchor="t"/>
          <a:lstStyle/>
          <a:p>
            <a:pPr marL="0" indent="0" algn="l">
              <a:lnSpc>
                <a:spcPts val="2200"/>
              </a:lnSpc>
              <a:buNone/>
            </a:pPr>
            <a:r>
              <a:rPr lang="en-US" sz="1750" dirty="0">
                <a:solidFill>
                  <a:srgbClr val="3A3630"/>
                </a:solidFill>
                <a:latin typeface="Lora" pitchFamily="34" charset="0"/>
                <a:ea typeface="Lora" pitchFamily="34" charset="-122"/>
                <a:cs typeface="Lora" pitchFamily="34" charset="-120"/>
              </a:rPr>
              <a:t>Feature Pipeline Validation</a:t>
            </a:r>
            <a:endParaRPr lang="en-US" sz="1750" dirty="0"/>
          </a:p>
        </p:txBody>
      </p:sp>
      <p:sp>
        <p:nvSpPr>
          <p:cNvPr id="17" name="Text 10"/>
          <p:cNvSpPr/>
          <p:nvPr/>
        </p:nvSpPr>
        <p:spPr>
          <a:xfrm>
            <a:off x="1986677" y="6899196"/>
            <a:ext cx="11805999" cy="306229"/>
          </a:xfrm>
          <a:prstGeom prst="rect">
            <a:avLst/>
          </a:prstGeom>
          <a:noFill/>
          <a:ln/>
        </p:spPr>
        <p:txBody>
          <a:bodyPr wrap="none" lIns="0" tIns="0" rIns="0" bIns="0" rtlCol="0" anchor="t"/>
          <a:lstStyle/>
          <a:p>
            <a:pPr marL="0" indent="0" algn="l">
              <a:lnSpc>
                <a:spcPts val="2400"/>
              </a:lnSpc>
              <a:buNone/>
            </a:pPr>
            <a:r>
              <a:rPr lang="en-US" sz="1500" dirty="0">
                <a:solidFill>
                  <a:srgbClr val="3A3630"/>
                </a:solidFill>
                <a:latin typeface="Source Sans 3" pitchFamily="34" charset="0"/>
                <a:ea typeface="Source Sans 3" pitchFamily="34" charset="-122"/>
                <a:cs typeface="Source Sans 3" pitchFamily="34" charset="-120"/>
              </a:rPr>
              <a:t>Ensured the reliability and efficiency of our feature extraction process.</a:t>
            </a:r>
            <a:endParaRPr lang="en-US" sz="1500" dirty="0"/>
          </a:p>
        </p:txBody>
      </p:sp>
      <p:pic>
        <p:nvPicPr>
          <p:cNvPr id="19" name="Picture 18">
            <a:extLst>
              <a:ext uri="{FF2B5EF4-FFF2-40B4-BE49-F238E27FC236}">
                <a16:creationId xmlns:a16="http://schemas.microsoft.com/office/drawing/2014/main" id="{6DDECF54-BB31-7FE7-5FF1-1FCA6263BA1D}"/>
              </a:ext>
            </a:extLst>
          </p:cNvPr>
          <p:cNvPicPr>
            <a:picLocks noChangeAspect="1"/>
          </p:cNvPicPr>
          <p:nvPr/>
        </p:nvPicPr>
        <p:blipFill>
          <a:blip r:embed="rId8"/>
          <a:stretch>
            <a:fillRect/>
          </a:stretch>
        </p:blipFill>
        <p:spPr>
          <a:xfrm>
            <a:off x="12115631" y="7791389"/>
            <a:ext cx="2419688" cy="4382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744498"/>
            <a:ext cx="6895981" cy="528042"/>
          </a:xfrm>
          <a:prstGeom prst="rect">
            <a:avLst/>
          </a:prstGeom>
          <a:noFill/>
          <a:ln/>
        </p:spPr>
        <p:txBody>
          <a:bodyPr wrap="none" lIns="0" tIns="0" rIns="0" bIns="0" rtlCol="0" anchor="t"/>
          <a:lstStyle/>
          <a:p>
            <a:pPr marL="0" indent="0" algn="l">
              <a:lnSpc>
                <a:spcPts val="4150"/>
              </a:lnSpc>
              <a:buNone/>
            </a:pPr>
            <a:r>
              <a:rPr lang="en-US" sz="3300" dirty="0">
                <a:solidFill>
                  <a:srgbClr val="38512F"/>
                </a:solidFill>
                <a:latin typeface="Lora" pitchFamily="34" charset="0"/>
                <a:ea typeface="Lora" pitchFamily="34" charset="-122"/>
                <a:cs typeface="Lora" pitchFamily="34" charset="-120"/>
              </a:rPr>
              <a:t>Milestone 1: Successful Completion</a:t>
            </a:r>
            <a:endParaRPr lang="en-US" sz="3300" dirty="0"/>
          </a:p>
        </p:txBody>
      </p:sp>
      <p:sp>
        <p:nvSpPr>
          <p:cNvPr id="3" name="Text 1"/>
          <p:cNvSpPr/>
          <p:nvPr/>
        </p:nvSpPr>
        <p:spPr>
          <a:xfrm>
            <a:off x="837724" y="1541740"/>
            <a:ext cx="12954952" cy="287179"/>
          </a:xfrm>
          <a:prstGeom prst="rect">
            <a:avLst/>
          </a:prstGeom>
          <a:noFill/>
          <a:ln/>
        </p:spPr>
        <p:txBody>
          <a:bodyPr wrap="none" lIns="0" tIns="0" rIns="0" bIns="0" rtlCol="0" anchor="t"/>
          <a:lstStyle/>
          <a:p>
            <a:pPr marL="0" indent="0" algn="l">
              <a:lnSpc>
                <a:spcPts val="2250"/>
              </a:lnSpc>
              <a:buNone/>
            </a:pPr>
            <a:r>
              <a:rPr lang="en-US" sz="1400" dirty="0">
                <a:solidFill>
                  <a:srgbClr val="3A3630"/>
                </a:solidFill>
                <a:latin typeface="Source Sans 3" pitchFamily="34" charset="0"/>
                <a:ea typeface="Source Sans 3" pitchFamily="34" charset="-122"/>
                <a:cs typeface="Source Sans 3" pitchFamily="34" charset="-120"/>
              </a:rPr>
              <a:t>We have successfully completed all objectives for Milestone 1, establishing a strong foundation for the project.</a:t>
            </a:r>
            <a:endParaRPr lang="en-US" sz="1400" dirty="0"/>
          </a:p>
        </p:txBody>
      </p:sp>
      <p:sp>
        <p:nvSpPr>
          <p:cNvPr id="4" name="Text 2"/>
          <p:cNvSpPr/>
          <p:nvPr/>
        </p:nvSpPr>
        <p:spPr>
          <a:xfrm>
            <a:off x="1817846" y="3197662"/>
            <a:ext cx="2208133" cy="448747"/>
          </a:xfrm>
          <a:prstGeom prst="rect">
            <a:avLst/>
          </a:prstGeom>
          <a:noFill/>
          <a:ln/>
        </p:spPr>
        <p:txBody>
          <a:bodyPr wrap="none" lIns="0" tIns="0" rIns="0" bIns="0" rtlCol="0" anchor="t"/>
          <a:lstStyle/>
          <a:p>
            <a:pPr marL="0" indent="0" algn="ctr">
              <a:lnSpc>
                <a:spcPts val="3500"/>
              </a:lnSpc>
              <a:buNone/>
            </a:pPr>
            <a:r>
              <a:rPr lang="en-US" sz="3500" dirty="0">
                <a:solidFill>
                  <a:srgbClr val="3A3630"/>
                </a:solidFill>
                <a:latin typeface="Lora" pitchFamily="34" charset="0"/>
                <a:ea typeface="Lora" pitchFamily="34" charset="-122"/>
                <a:cs typeface="Lora" pitchFamily="34" charset="-120"/>
              </a:rPr>
              <a:t>100%</a:t>
            </a:r>
            <a:endParaRPr lang="en-US" sz="3500" dirty="0"/>
          </a:p>
        </p:txBody>
      </p:sp>
      <p:pic>
        <p:nvPicPr>
          <p:cNvPr id="5" name="Image 0" descr="preencoded.png"/>
          <p:cNvPicPr>
            <a:picLocks noChangeAspect="1"/>
          </p:cNvPicPr>
          <p:nvPr/>
        </p:nvPicPr>
        <p:blipFill>
          <a:blip r:embed="rId3"/>
          <a:stretch>
            <a:fillRect/>
          </a:stretch>
        </p:blipFill>
        <p:spPr>
          <a:xfrm>
            <a:off x="1575554" y="2075617"/>
            <a:ext cx="2692956" cy="2692956"/>
          </a:xfrm>
          <a:prstGeom prst="rect">
            <a:avLst/>
          </a:prstGeom>
        </p:spPr>
      </p:pic>
      <p:sp>
        <p:nvSpPr>
          <p:cNvPr id="6" name="Text 3"/>
          <p:cNvSpPr/>
          <p:nvPr/>
        </p:nvSpPr>
        <p:spPr>
          <a:xfrm>
            <a:off x="1719620" y="4992767"/>
            <a:ext cx="2404824" cy="263962"/>
          </a:xfrm>
          <a:prstGeom prst="rect">
            <a:avLst/>
          </a:prstGeom>
          <a:noFill/>
          <a:ln/>
        </p:spPr>
        <p:txBody>
          <a:bodyPr wrap="none" lIns="0" tIns="0" rIns="0" bIns="0" rtlCol="0" anchor="t"/>
          <a:lstStyle/>
          <a:p>
            <a:pPr marL="0" indent="0" algn="ctr">
              <a:lnSpc>
                <a:spcPts val="2050"/>
              </a:lnSpc>
              <a:buNone/>
            </a:pPr>
            <a:r>
              <a:rPr lang="en-US" sz="1650" dirty="0">
                <a:solidFill>
                  <a:srgbClr val="3A3630"/>
                </a:solidFill>
                <a:latin typeface="Lora" pitchFamily="34" charset="0"/>
                <a:ea typeface="Lora" pitchFamily="34" charset="-122"/>
                <a:cs typeface="Lora" pitchFamily="34" charset="-120"/>
              </a:rPr>
              <a:t>Preprocessing Complete</a:t>
            </a:r>
            <a:endParaRPr lang="en-US" sz="1650" dirty="0"/>
          </a:p>
        </p:txBody>
      </p:sp>
      <p:sp>
        <p:nvSpPr>
          <p:cNvPr id="7" name="Text 4"/>
          <p:cNvSpPr/>
          <p:nvPr/>
        </p:nvSpPr>
        <p:spPr>
          <a:xfrm>
            <a:off x="837724" y="5364361"/>
            <a:ext cx="4168735" cy="287179"/>
          </a:xfrm>
          <a:prstGeom prst="rect">
            <a:avLst/>
          </a:prstGeom>
          <a:noFill/>
          <a:ln/>
        </p:spPr>
        <p:txBody>
          <a:bodyPr wrap="none" lIns="0" tIns="0" rIns="0" bIns="0" rtlCol="0" anchor="t"/>
          <a:lstStyle/>
          <a:p>
            <a:pPr marL="0" indent="0" algn="ctr">
              <a:lnSpc>
                <a:spcPts val="2250"/>
              </a:lnSpc>
              <a:buNone/>
            </a:pPr>
            <a:r>
              <a:rPr lang="en-US" sz="1400" dirty="0">
                <a:solidFill>
                  <a:srgbClr val="3A3630"/>
                </a:solidFill>
                <a:latin typeface="Source Sans 3" pitchFamily="34" charset="0"/>
                <a:ea typeface="Source Sans 3" pitchFamily="34" charset="-122"/>
                <a:cs typeface="Source Sans 3" pitchFamily="34" charset="-120"/>
              </a:rPr>
              <a:t>All data cleaning and preparation tasks are finished.</a:t>
            </a:r>
            <a:endParaRPr lang="en-US" sz="1400" dirty="0"/>
          </a:p>
        </p:txBody>
      </p:sp>
      <p:sp>
        <p:nvSpPr>
          <p:cNvPr id="8" name="Text 5"/>
          <p:cNvSpPr/>
          <p:nvPr/>
        </p:nvSpPr>
        <p:spPr>
          <a:xfrm>
            <a:off x="6210895" y="3197662"/>
            <a:ext cx="2208133" cy="448747"/>
          </a:xfrm>
          <a:prstGeom prst="rect">
            <a:avLst/>
          </a:prstGeom>
          <a:noFill/>
          <a:ln/>
        </p:spPr>
        <p:txBody>
          <a:bodyPr wrap="none" lIns="0" tIns="0" rIns="0" bIns="0" rtlCol="0" anchor="t"/>
          <a:lstStyle/>
          <a:p>
            <a:pPr marL="0" indent="0" algn="ctr">
              <a:lnSpc>
                <a:spcPts val="3500"/>
              </a:lnSpc>
              <a:buNone/>
            </a:pPr>
            <a:r>
              <a:rPr lang="en-US" sz="3500" dirty="0">
                <a:solidFill>
                  <a:srgbClr val="3A3630"/>
                </a:solidFill>
                <a:latin typeface="Lora" pitchFamily="34" charset="0"/>
                <a:ea typeface="Lora" pitchFamily="34" charset="-122"/>
                <a:cs typeface="Lora" pitchFamily="34" charset="-120"/>
              </a:rPr>
              <a:t>100%</a:t>
            </a:r>
            <a:endParaRPr lang="en-US" sz="3500" dirty="0"/>
          </a:p>
        </p:txBody>
      </p:sp>
      <p:pic>
        <p:nvPicPr>
          <p:cNvPr id="9" name="Image 1" descr="preencoded.png"/>
          <p:cNvPicPr>
            <a:picLocks noChangeAspect="1"/>
          </p:cNvPicPr>
          <p:nvPr/>
        </p:nvPicPr>
        <p:blipFill>
          <a:blip r:embed="rId3"/>
          <a:stretch>
            <a:fillRect/>
          </a:stretch>
        </p:blipFill>
        <p:spPr>
          <a:xfrm>
            <a:off x="5968603" y="2075617"/>
            <a:ext cx="2692956" cy="2692956"/>
          </a:xfrm>
          <a:prstGeom prst="rect">
            <a:avLst/>
          </a:prstGeom>
        </p:spPr>
      </p:pic>
      <p:sp>
        <p:nvSpPr>
          <p:cNvPr id="10" name="Text 6"/>
          <p:cNvSpPr/>
          <p:nvPr/>
        </p:nvSpPr>
        <p:spPr>
          <a:xfrm>
            <a:off x="6258997" y="4992767"/>
            <a:ext cx="2112169" cy="263962"/>
          </a:xfrm>
          <a:prstGeom prst="rect">
            <a:avLst/>
          </a:prstGeom>
          <a:noFill/>
          <a:ln/>
        </p:spPr>
        <p:txBody>
          <a:bodyPr wrap="none" lIns="0" tIns="0" rIns="0" bIns="0" rtlCol="0" anchor="t"/>
          <a:lstStyle/>
          <a:p>
            <a:pPr marL="0" indent="0" algn="ctr">
              <a:lnSpc>
                <a:spcPts val="2050"/>
              </a:lnSpc>
              <a:buNone/>
            </a:pPr>
            <a:r>
              <a:rPr lang="en-US" sz="1650" dirty="0">
                <a:solidFill>
                  <a:srgbClr val="3A3630"/>
                </a:solidFill>
                <a:latin typeface="Lora" pitchFamily="34" charset="0"/>
                <a:ea typeface="Lora" pitchFamily="34" charset="-122"/>
                <a:cs typeface="Lora" pitchFamily="34" charset="-120"/>
              </a:rPr>
              <a:t>EDA Documented</a:t>
            </a:r>
            <a:endParaRPr lang="en-US" sz="1650" dirty="0"/>
          </a:p>
        </p:txBody>
      </p:sp>
      <p:sp>
        <p:nvSpPr>
          <p:cNvPr id="11" name="Text 7"/>
          <p:cNvSpPr/>
          <p:nvPr/>
        </p:nvSpPr>
        <p:spPr>
          <a:xfrm>
            <a:off x="5230773" y="5364361"/>
            <a:ext cx="4168735" cy="574358"/>
          </a:xfrm>
          <a:prstGeom prst="rect">
            <a:avLst/>
          </a:prstGeom>
          <a:noFill/>
          <a:ln/>
        </p:spPr>
        <p:txBody>
          <a:bodyPr wrap="square" lIns="0" tIns="0" rIns="0" bIns="0" rtlCol="0" anchor="t"/>
          <a:lstStyle/>
          <a:p>
            <a:pPr marL="0" indent="0" algn="ctr">
              <a:lnSpc>
                <a:spcPts val="2250"/>
              </a:lnSpc>
              <a:buNone/>
            </a:pPr>
            <a:r>
              <a:rPr lang="en-US" sz="1400" dirty="0">
                <a:solidFill>
                  <a:srgbClr val="3A3630"/>
                </a:solidFill>
                <a:latin typeface="Source Sans 3" pitchFamily="34" charset="0"/>
                <a:ea typeface="Source Sans 3" pitchFamily="34" charset="-122"/>
                <a:cs typeface="Source Sans 3" pitchFamily="34" charset="-120"/>
              </a:rPr>
              <a:t>Exploratory Data Analysis insights are fully documented with visualizations.</a:t>
            </a:r>
            <a:endParaRPr lang="en-US" sz="1400" dirty="0"/>
          </a:p>
        </p:txBody>
      </p:sp>
      <p:sp>
        <p:nvSpPr>
          <p:cNvPr id="12" name="Text 8"/>
          <p:cNvSpPr/>
          <p:nvPr/>
        </p:nvSpPr>
        <p:spPr>
          <a:xfrm>
            <a:off x="10604063" y="3197662"/>
            <a:ext cx="2208133" cy="448747"/>
          </a:xfrm>
          <a:prstGeom prst="rect">
            <a:avLst/>
          </a:prstGeom>
          <a:noFill/>
          <a:ln/>
        </p:spPr>
        <p:txBody>
          <a:bodyPr wrap="none" lIns="0" tIns="0" rIns="0" bIns="0" rtlCol="0" anchor="t"/>
          <a:lstStyle/>
          <a:p>
            <a:pPr marL="0" indent="0" algn="ctr">
              <a:lnSpc>
                <a:spcPts val="3500"/>
              </a:lnSpc>
              <a:buNone/>
            </a:pPr>
            <a:r>
              <a:rPr lang="en-US" sz="3500" dirty="0">
                <a:solidFill>
                  <a:srgbClr val="3A3630"/>
                </a:solidFill>
                <a:latin typeface="Lora" pitchFamily="34" charset="0"/>
                <a:ea typeface="Lora" pitchFamily="34" charset="-122"/>
                <a:cs typeface="Lora" pitchFamily="34" charset="-120"/>
              </a:rPr>
              <a:t>100%</a:t>
            </a:r>
            <a:endParaRPr lang="en-US" sz="3500" dirty="0"/>
          </a:p>
        </p:txBody>
      </p:sp>
      <p:pic>
        <p:nvPicPr>
          <p:cNvPr id="13" name="Image 2" descr="preencoded.png"/>
          <p:cNvPicPr>
            <a:picLocks noChangeAspect="1"/>
          </p:cNvPicPr>
          <p:nvPr/>
        </p:nvPicPr>
        <p:blipFill>
          <a:blip r:embed="rId3"/>
          <a:stretch>
            <a:fillRect/>
          </a:stretch>
        </p:blipFill>
        <p:spPr>
          <a:xfrm>
            <a:off x="10361771" y="2075617"/>
            <a:ext cx="2692956" cy="2692956"/>
          </a:xfrm>
          <a:prstGeom prst="rect">
            <a:avLst/>
          </a:prstGeom>
        </p:spPr>
      </p:pic>
      <p:sp>
        <p:nvSpPr>
          <p:cNvPr id="14" name="Text 9"/>
          <p:cNvSpPr/>
          <p:nvPr/>
        </p:nvSpPr>
        <p:spPr>
          <a:xfrm>
            <a:off x="10620018" y="4992767"/>
            <a:ext cx="2176463" cy="263962"/>
          </a:xfrm>
          <a:prstGeom prst="rect">
            <a:avLst/>
          </a:prstGeom>
          <a:noFill/>
          <a:ln/>
        </p:spPr>
        <p:txBody>
          <a:bodyPr wrap="none" lIns="0" tIns="0" rIns="0" bIns="0" rtlCol="0" anchor="t"/>
          <a:lstStyle/>
          <a:p>
            <a:pPr marL="0" indent="0" algn="ctr">
              <a:lnSpc>
                <a:spcPts val="2050"/>
              </a:lnSpc>
              <a:buNone/>
            </a:pPr>
            <a:r>
              <a:rPr lang="en-US" sz="1650" dirty="0">
                <a:solidFill>
                  <a:srgbClr val="3A3630"/>
                </a:solidFill>
                <a:latin typeface="Lora" pitchFamily="34" charset="0"/>
                <a:ea typeface="Lora" pitchFamily="34" charset="-122"/>
                <a:cs typeface="Lora" pitchFamily="34" charset="-120"/>
              </a:rPr>
              <a:t>TF-IDF Pipeline Ready</a:t>
            </a:r>
            <a:endParaRPr lang="en-US" sz="1650" dirty="0"/>
          </a:p>
        </p:txBody>
      </p:sp>
      <p:sp>
        <p:nvSpPr>
          <p:cNvPr id="15" name="Text 10"/>
          <p:cNvSpPr/>
          <p:nvPr/>
        </p:nvSpPr>
        <p:spPr>
          <a:xfrm>
            <a:off x="9623822" y="5364361"/>
            <a:ext cx="4168854" cy="574358"/>
          </a:xfrm>
          <a:prstGeom prst="rect">
            <a:avLst/>
          </a:prstGeom>
          <a:noFill/>
          <a:ln/>
        </p:spPr>
        <p:txBody>
          <a:bodyPr wrap="square" lIns="0" tIns="0" rIns="0" bIns="0" rtlCol="0" anchor="t"/>
          <a:lstStyle/>
          <a:p>
            <a:pPr marL="0" indent="0" algn="ctr">
              <a:lnSpc>
                <a:spcPts val="2250"/>
              </a:lnSpc>
              <a:buNone/>
            </a:pPr>
            <a:r>
              <a:rPr lang="en-US" sz="1400" dirty="0">
                <a:solidFill>
                  <a:srgbClr val="3A3630"/>
                </a:solidFill>
                <a:latin typeface="Source Sans 3" pitchFamily="34" charset="0"/>
                <a:ea typeface="Source Sans 3" pitchFamily="34" charset="-122"/>
                <a:cs typeface="Source Sans 3" pitchFamily="34" charset="-120"/>
              </a:rPr>
              <a:t>The Term Frequency-Inverse Document Frequency pipeline is fully functional.</a:t>
            </a:r>
            <a:endParaRPr lang="en-US" sz="1400" dirty="0"/>
          </a:p>
        </p:txBody>
      </p:sp>
      <p:sp>
        <p:nvSpPr>
          <p:cNvPr id="16" name="Text 11"/>
          <p:cNvSpPr/>
          <p:nvPr/>
        </p:nvSpPr>
        <p:spPr>
          <a:xfrm>
            <a:off x="1106924" y="6409849"/>
            <a:ext cx="3042166" cy="316825"/>
          </a:xfrm>
          <a:prstGeom prst="rect">
            <a:avLst/>
          </a:prstGeom>
          <a:noFill/>
          <a:ln/>
        </p:spPr>
        <p:txBody>
          <a:bodyPr wrap="none" lIns="0" tIns="0" rIns="0" bIns="0" rtlCol="0" anchor="t"/>
          <a:lstStyle/>
          <a:p>
            <a:pPr marL="0" indent="0" algn="l">
              <a:lnSpc>
                <a:spcPts val="2450"/>
              </a:lnSpc>
              <a:buNone/>
            </a:pPr>
            <a:r>
              <a:rPr lang="en-US" sz="1950" dirty="0">
                <a:solidFill>
                  <a:srgbClr val="38512F"/>
                </a:solidFill>
                <a:latin typeface="Lora" pitchFamily="34" charset="0"/>
                <a:ea typeface="Lora" pitchFamily="34" charset="-122"/>
                <a:cs typeface="Lora" pitchFamily="34" charset="-120"/>
              </a:rPr>
              <a:t>Ready for Model Training!</a:t>
            </a:r>
            <a:endParaRPr lang="en-US" sz="1950" dirty="0"/>
          </a:p>
        </p:txBody>
      </p:sp>
      <p:sp>
        <p:nvSpPr>
          <p:cNvPr id="17" name="Text 12"/>
          <p:cNvSpPr/>
          <p:nvPr/>
        </p:nvSpPr>
        <p:spPr>
          <a:xfrm>
            <a:off x="1106924" y="6995874"/>
            <a:ext cx="12685752" cy="287179"/>
          </a:xfrm>
          <a:prstGeom prst="rect">
            <a:avLst/>
          </a:prstGeom>
          <a:noFill/>
          <a:ln/>
        </p:spPr>
        <p:txBody>
          <a:bodyPr wrap="none" lIns="0" tIns="0" rIns="0" bIns="0" rtlCol="0" anchor="t"/>
          <a:lstStyle/>
          <a:p>
            <a:pPr marL="0" indent="0" algn="l">
              <a:lnSpc>
                <a:spcPts val="2250"/>
              </a:lnSpc>
              <a:buNone/>
            </a:pPr>
            <a:r>
              <a:rPr lang="en-US" sz="1400" dirty="0">
                <a:solidFill>
                  <a:srgbClr val="3A3630"/>
                </a:solidFill>
                <a:latin typeface="Source Sans 3" pitchFamily="34" charset="0"/>
                <a:ea typeface="Source Sans 3" pitchFamily="34" charset="-122"/>
                <a:cs typeface="Source Sans 3" pitchFamily="34" charset="-120"/>
              </a:rPr>
              <a:t>The project is now poised to advance to Milestone 2: Model Training and Evaluation. We are confident in the quality of our prepared data and features.</a:t>
            </a:r>
            <a:endParaRPr lang="en-US" sz="1400" dirty="0"/>
          </a:p>
        </p:txBody>
      </p:sp>
      <p:sp>
        <p:nvSpPr>
          <p:cNvPr id="18" name="Shape 13"/>
          <p:cNvSpPr/>
          <p:nvPr/>
        </p:nvSpPr>
        <p:spPr>
          <a:xfrm>
            <a:off x="837724" y="6140648"/>
            <a:ext cx="22860" cy="1344335"/>
          </a:xfrm>
          <a:prstGeom prst="rect">
            <a:avLst/>
          </a:prstGeom>
          <a:solidFill>
            <a:srgbClr val="38512F"/>
          </a:solidFill>
          <a:ln/>
        </p:spPr>
      </p:sp>
      <p:pic>
        <p:nvPicPr>
          <p:cNvPr id="20" name="Picture 19">
            <a:extLst>
              <a:ext uri="{FF2B5EF4-FFF2-40B4-BE49-F238E27FC236}">
                <a16:creationId xmlns:a16="http://schemas.microsoft.com/office/drawing/2014/main" id="{5B4FCA5C-2156-51A6-B5B5-E83A8D9B19BF}"/>
              </a:ext>
            </a:extLst>
          </p:cNvPr>
          <p:cNvPicPr>
            <a:picLocks noChangeAspect="1"/>
          </p:cNvPicPr>
          <p:nvPr/>
        </p:nvPicPr>
        <p:blipFill>
          <a:blip r:embed="rId4"/>
          <a:stretch>
            <a:fillRect/>
          </a:stretch>
        </p:blipFill>
        <p:spPr>
          <a:xfrm>
            <a:off x="12210712" y="7791389"/>
            <a:ext cx="2419688" cy="43821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496</Words>
  <Application>Microsoft Office PowerPoint</Application>
  <PresentationFormat>Custom</PresentationFormat>
  <Paragraphs>61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Lora</vt:lpstr>
      <vt:lpstr>Source Sans 3</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Aditya Vajramatti</dc:creator>
  <cp:lastModifiedBy>Aditya Vajramatti</cp:lastModifiedBy>
  <cp:revision>2</cp:revision>
  <dcterms:created xsi:type="dcterms:W3CDTF">2025-11-21T13:10:59Z</dcterms:created>
  <dcterms:modified xsi:type="dcterms:W3CDTF">2025-11-21T13:54:56Z</dcterms:modified>
</cp:coreProperties>
</file>